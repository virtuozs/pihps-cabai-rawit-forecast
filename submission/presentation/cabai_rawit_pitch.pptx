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8745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1, ~45 seconds. This deck is structured around trust: what the tool does, how we proved it works, where it's strong, and where it's weak — in that order, deliberately. Institutional buyers don't adopt on sentiment, they adopt once they trust the testing was honest.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chart is the literal model output on the held-back test year, not an illustration — pulled straight from the notebook. Walk the eye across: red (the model) turns earlier than grey (naive) at spike onsets, and tracks the big up-and-down swings much more closely. Jawa Timur and DKI Jakarta shown here because they anchor two different stories in this deck — Jawa Timur is the leading-indicator province (slide 8), DKI Jakarta is the capital.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Magnitude: predictions ran August ~-16%, September ~-18%, October ~-12% below actual prices, versus naive's -9% to +1% over the same three months.
Seasonal pattern broken: our own nine-year analysis found "troughs tend to come mid-year at dry-season harvest" and the price series sits "below trend mid-year (dry-season harvest)" -- a consistent, moderate-strength seasonal pattern (seasonal strength ~0.23-0.32 across provinces). 2026 is the exception.
Karhutla: national burned area ~202,000 ha Jan-Jul 2026, +69% YoY, escalating further Aug-Sep (Kompas). El Nino at "strong" category, BMKG ENSO index +1.59 (early Aug) -- not confirmed "very strong," BMKG only warned it could intensify, don't overstate. ~1,700 fire-related deaths estimated in August (CREA via Kabarbursa); ~37.9M people across 8 provinces haze-affected by end of August (YLBHI).
BPS inflation: September 2026 at 3.28% YoY (up from 3.19% in August), food/beverage/tobacco the lead category, cabai rawit/cabai merah named explicitly as dominant contributors.
GDP dispute: official BPS figures Q1 2026 +5.61% YoY, Q2 2026 +5.29% YoY -- publicly challenged by LPEM FEB UI and a coalition of Indonesian economists (AEI), citing internal inconsistencies (manufacturing +5.04% vs. electricity/gas/water -0.99% in the same quarter) and a consumption-vs-confidence contradiction (BI's confidence index fell in March 2026 while reported consumption rose). LPEM's adjusted estimate: 4.0-4.9%. World Bank independently cut its 2026 forecast to 4.7%. Frame as "officially strong, independently disputed, plausibly softer" -- never as settled fact.
Rupiah: weakened ~2.25% in the month to mid-October 2026.
MSCI: announced Oct 15, 2026 -- a consultation, not a final decision (expected mid-2027) -- on moving Indonesia from Emerging Market to Standalone status, citing opaque shareholding structures and suspected coordinated trading (a market-governance concern, NOT a verdict on economic performance -- don't conflate the two if asked). Stocks fell 10.76-11% on Oct 16 (largest single-day drop in 28 years), -14.91% over the week, ~IDR 1,500 trillion (~$83B) off market cap. TIMING CAVEAT: this landed Oct 15-16, the last 1-2 days of our test window -- it cannot explain August/September and should only be used to confirm the financial backdrop was genuinely stressed, not as a root cause of the full 3-month pattern. A separate, earlier frontier-downgrade scare in early 2026 (~12% index loss) is a distinct, prior event if that comes up.
Exchange rate remains weaker ground to add as a direct model input than fire data -- the original rejection reasoning (diffuse, indirect, confounds with existing signals) still holds; it's a roadmap candidate, not a commitment.
Sources: Karhutla -- Kompas (lestari.kompas.com, 3 Oct 2026), RCTI+ (Kemenhut Jan-Jun figures), Kabarbursa (CREA), YLBHI. Rupiah/GDP dispute -- Databoks/Katadata, LPEM FEB UI, World Bank reporting, Oct 2026. BPS inflation -- BPS September 2026 release. MSCI -- Jakarta Globe, Euronews, Bloomberg, The Star, Oct 15-18 2026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presenters answer on their own slides where possible. Slide 6 (why it happened) carries the most detailed sourcing in speaker notes — refer there for any follow-up on the Aug-Oct explanation.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14600"/>
            <a:ext cx="109087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tested early-warning tool for chili prices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74904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F2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does, how we know it works, and where it still needs watching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1264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Cabai rawit merah · 6 provinces · Bank Indonesia price data, 2017–2026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91640"/>
            <a:ext cx="109087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tool that reads price history, prices in nearby provinces, and rainfall to predict next week's chili price before it happens.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44041"/>
            <a:ext cx="1090879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7 days ahead, for all 6 provinces at once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on public data already published by Bank Indonesia and weather services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Refreshes once a day, within minutes of PIHPS publishing its daily prices (~1pm WIB on working days)matches PIHPS's own update cadence.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tested it, honestly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91640"/>
            <a:ext cx="109087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any of this was built, we set aside a full year of real prices and never let the model see it.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383280"/>
            <a:ext cx="109087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scored against that year exactly once, after everything was finalized with no second attempts, no tuning after the fact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only way to know the accuracy numbers on the next slide are real, not optimistic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result: where it's strong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= what actually happened. Grey = simply guessing no change. Red = this model. Watch how closely red tracks the big swings up and down.</a:t>
            </a:r>
            <a:endParaRPr lang="en-US" sz="1350" dirty="0"/>
          </a:p>
        </p:txBody>
      </p:sp>
      <p:pic>
        <p:nvPicPr>
          <p:cNvPr id="4" name="Image 0" descr="/home/virtuozs/college/Predictive-Analysis/UAS/pihps-cabai-rawit-forecast/presentation/draft_pitch/charts/forecast_jawa_timu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74520"/>
            <a:ext cx="5120640" cy="1894637"/>
          </a:xfrm>
          <a:prstGeom prst="rect">
            <a:avLst/>
          </a:prstGeom>
        </p:spPr>
      </p:pic>
      <p:pic>
        <p:nvPicPr>
          <p:cNvPr id="5" name="Image 1" descr="/home/virtuozs/college/Predictive-Analysis/UAS/pihps-cabai-rawit-forecast/presentation/draft_pitch/charts/forecast_dki_jakar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2472" y="1874520"/>
            <a:ext cx="5120640" cy="1993727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40080" y="3796589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 Timur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6062472" y="3895679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DKI Jakarta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640080" y="4709160"/>
            <a:ext cx="3453384" cy="1691640"/>
          </a:xfrm>
          <a:prstGeom prst="rect">
            <a:avLst/>
          </a:prstGeom>
          <a:solidFill>
            <a:srgbClr val="F2F4F5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96112" y="4910328"/>
            <a:ext cx="2941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5E8C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7–15%</a:t>
            </a:r>
            <a:endParaRPr lang="en-US" sz="3200" dirty="0"/>
          </a:p>
        </p:txBody>
      </p:sp>
      <p:sp>
        <p:nvSpPr>
          <p:cNvPr id="10" name="Text 6"/>
          <p:cNvSpPr txBox="1"/>
          <p:nvPr/>
        </p:nvSpPr>
        <p:spPr>
          <a:xfrm>
            <a:off x="896112" y="5487314"/>
            <a:ext cx="294132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accurate overall than assuming prices stay flat, on that held-back year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367784" y="4709160"/>
            <a:ext cx="3453384" cy="1691640"/>
          </a:xfrm>
          <a:prstGeom prst="rect">
            <a:avLst/>
          </a:prstGeom>
          <a:solidFill>
            <a:srgbClr val="F2F4F5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4623816" y="4910328"/>
            <a:ext cx="2941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5E8C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≈30%</a:t>
            </a:r>
            <a:endParaRPr lang="en-US" sz="3200" dirty="0"/>
          </a:p>
        </p:txBody>
      </p:sp>
      <p:sp>
        <p:nvSpPr>
          <p:cNvPr id="13" name="Text 9"/>
          <p:cNvSpPr txBox="1"/>
          <p:nvPr/>
        </p:nvSpPr>
        <p:spPr>
          <a:xfrm>
            <a:off x="4623816" y="5487314"/>
            <a:ext cx="294132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error on the biggest price jumps and crashes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95488" y="4709160"/>
            <a:ext cx="3453384" cy="1691640"/>
          </a:xfrm>
          <a:prstGeom prst="rect">
            <a:avLst/>
          </a:prstGeom>
          <a:solidFill>
            <a:srgbClr val="F2F4F5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351520" y="4910328"/>
            <a:ext cx="2941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5E8C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in 4</a:t>
            </a:r>
            <a:endParaRPr lang="en-US" sz="3200" dirty="0"/>
          </a:p>
        </p:txBody>
      </p:sp>
      <p:sp>
        <p:nvSpPr>
          <p:cNvPr id="16" name="Text 12"/>
          <p:cNvSpPr txBox="1"/>
          <p:nvPr/>
        </p:nvSpPr>
        <p:spPr>
          <a:xfrm>
            <a:off x="8351520" y="5487314"/>
            <a:ext cx="294132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early-warning alerts turn out to be right that’s twice as reliable as watching recent trends alone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result: where it's weak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9164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B83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We're showing you this the same way we just showed you the wins.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17520"/>
            <a:ext cx="1090879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August–October 2026: predictions ran 12–18% below actual prices, while naive was off by at most 9% over the same stretch</a:t>
            </a:r>
            <a:endParaRPr lang="en-US" sz="165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about 3 months of the year, the tool was actually worse than doing nothing not a rounding error, a real reversal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happened, and the fix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908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i="1" dirty="0">
                <a:solidFill>
                  <a:srgbClr val="5B67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one bad-economy story several independent, credible stress signals clustered in the same three months, none of which the model currently sees.</a:t>
            </a:r>
            <a:endParaRPr lang="en-US" sz="15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65960"/>
            <a:ext cx="109087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disruption, and it broke the normal pattern: nine years of data show dry-season months are usually when prices fall (harvest = more supply). Aug–Sep 2026 flipped because that’s one of Indonesia's worst forest-fire seasons in years (burned area +69% YoY, under a strong El Niño???) disrupted the harvest and transport that normally bring prices down. The seasonal relief that should have happened, didn't.</a:t>
            </a:r>
            <a:endParaRPr lang="en-US" sz="13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the model noticing: BPS's own September inflation report named cabai rawit/cabai merah specifically as dominant drivers of that month's national inflation (3.28% YoY).</a:t>
            </a:r>
            <a:endParaRPr lang="en-US" sz="13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stressed financial backdrop, four separate angles: disputed GDP figures (official 5.2–5.6% vs. independent estimates of 4.0–4.9%), falling consumer confidence, and a weakening rupiah.</a:t>
            </a:r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we're responding: a monthly accuracy check, an automatic fallback to “no change” if it keeps underperforming, and two roadmap candidates including fire/haze activity (primary) and currency/import-cost pressure (secondary).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Another thing the testing surfaced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91640"/>
            <a:ext cx="10908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 assumed prices spike before Lebaran. The testing says otherwise.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08960"/>
            <a:ext cx="1090879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back at 2017–2025, prices were typically lower in the weeks before Lebaran, not higher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seasonal spike happens around December, at the start of the rainy season</a:t>
            </a:r>
            <a:endParaRPr lang="en-US" sz="160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wouldn't have known this without testing the conventional assumption against nine years of data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means day-to-day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83080"/>
            <a:ext cx="1090879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Jawa Timur prices closely because the earliest, most reliable signal for the other five provinces</a:t>
            </a:r>
            <a:endParaRPr lang="en-US" sz="165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recent rainfall (2–7 weeks back) to the monitoring picture</a:t>
            </a:r>
            <a:endParaRPr lang="en-US" sz="165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around December, not just Lebaran</a:t>
            </a:r>
            <a:endParaRPr lang="en-US" sz="1650" dirty="0"/>
          </a:p>
          <a:p>
            <a:pPr marL="342900" indent="-342900" algn="l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 for PIHPS: a couple of provinces' reported prices look unusually </a:t>
            </a:r>
            <a:r>
              <a:rPr lang="en-US" sz="165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and </a:t>
            </a:r>
            <a:r>
              <a:rPr lang="en-US" sz="16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asking how they're being collected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514600"/>
            <a:ext cx="109087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74904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F2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to go deeper on any result, any number, or the testing itself.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ili Forecast Pitch Variant B">
  <a:themeElements>
    <a:clrScheme name="Chili Forecast Pitch Variant B">
      <a:dk1>
        <a:srgbClr val="1F2A30"/>
      </a:dk1>
      <a:lt1>
        <a:srgbClr val="FFFFFF"/>
      </a:lt1>
      <a:dk2>
        <a:srgbClr val="5B6770"/>
      </a:dk2>
      <a:lt2>
        <a:srgbClr val="F2F4F5"/>
      </a:lt2>
      <a:accent1>
        <a:srgbClr val="B83227"/>
      </a:accent1>
      <a:accent2>
        <a:srgbClr val="5E8C6A"/>
      </a:accent2>
      <a:accent3>
        <a:srgbClr val="9AA5AD"/>
      </a:accent3>
      <a:accent4>
        <a:srgbClr val="8A5A44"/>
      </a:accent4>
      <a:accent5>
        <a:srgbClr val="D98E04"/>
      </a:accent5>
      <a:accent6>
        <a:srgbClr val="3E4C55"/>
      </a:accent6>
      <a:hlink>
        <a:srgbClr val="B83227"/>
      </a:hlink>
      <a:folHlink>
        <a:srgbClr val="5B6770"/>
      </a:folHlink>
    </a:clrScheme>
    <a:fontScheme name="Chili Forecast Pitch Variant B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1512</Words>
  <Application>Microsoft Office PowerPoint</Application>
  <PresentationFormat>Widescreen</PresentationFormat>
  <Paragraphs>57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Chili Forecast Pitch Variant 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PT PNM Pratama Natanusa Mandiri</cp:lastModifiedBy>
  <cp:revision>3</cp:revision>
  <dcterms:created xsi:type="dcterms:W3CDTF">2026-10-18T09:23:50Z</dcterms:created>
  <dcterms:modified xsi:type="dcterms:W3CDTF">2026-10-18T10:06:24Z</dcterms:modified>
</cp:coreProperties>
</file>