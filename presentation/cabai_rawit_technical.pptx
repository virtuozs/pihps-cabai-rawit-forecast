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0"/>
        </a:solidFill>
      </p:bgPr>
    </p:bg>
    <p:spTree>
      <p:nvGrpSpPr>
        <p:cNvPr id="1" name=""/>
        <p:cNvGrpSpPr/>
        <p:nvPr/>
      </p:nvGrpSpPr>
      <p:grpSpPr>
        <a:xfrm>
          <a:off x="0" y="0"/>
          <a:ext cx="0" cy="0"/>
          <a:chOff x="0" y="0"/>
          <a:chExt cx="0" cy="0"/>
        </a:xfrm>
      </p:grpSpPr>
      <p:sp>
        <p:nvSpPr>
          <p:cNvPr id="2" name="Text 0"/>
          <p:cNvSpPr txBox="1"/>
          <p:nvPr/>
        </p:nvSpPr>
        <p:spPr>
          <a:xfrm>
            <a:off x="548640" y="2331720"/>
            <a:ext cx="11091672" cy="146304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Forecasting Cabai Rawit Merah Prices</a:t>
            </a:r>
            <a:endParaRPr lang="en-US" sz="4000" dirty="0"/>
          </a:p>
        </p:txBody>
      </p:sp>
      <p:sp>
        <p:nvSpPr>
          <p:cNvPr id="3" name="Text 1"/>
          <p:cNvSpPr txBox="1"/>
          <p:nvPr/>
        </p:nvSpPr>
        <p:spPr>
          <a:xfrm>
            <a:off x="548640" y="3611880"/>
            <a:ext cx="11091672" cy="731520"/>
          </a:xfrm>
          <a:prstGeom prst="rect">
            <a:avLst/>
          </a:prstGeom>
          <a:noFill/>
          <a:ln/>
        </p:spPr>
        <p:txBody>
          <a:bodyPr wrap="square" lIns="0" tIns="0" rIns="0" bIns="0" rtlCol="0" anchor="ctr"/>
          <a:lstStyle/>
          <a:p>
            <a:pPr algn="l" indent="0" marL="0">
              <a:buNone/>
            </a:pPr>
            <a:r>
              <a:rPr lang="en-US" sz="1800" dirty="0">
                <a:solidFill>
                  <a:srgbClr val="F2F4F5"/>
                </a:solidFill>
                <a:latin typeface="Calibri" pitchFamily="34" charset="0"/>
                <a:ea typeface="Calibri" pitchFamily="34" charset="-122"/>
                <a:cs typeface="Calibri" pitchFamily="34" charset="-120"/>
              </a:rPr>
              <a:t>Technical walkthrough of methodology, validation design, and results. Seven working day ahead price forecasting for six Indonesian provinces.</a:t>
            </a:r>
            <a:endParaRPr lang="en-US" sz="1800" dirty="0"/>
          </a:p>
        </p:txBody>
      </p:sp>
      <p:sp>
        <p:nvSpPr>
          <p:cNvPr id="4" name="Text 2"/>
          <p:cNvSpPr txBox="1"/>
          <p:nvPr/>
        </p:nvSpPr>
        <p:spPr>
          <a:xfrm>
            <a:off x="548640" y="6035040"/>
            <a:ext cx="11091672" cy="457200"/>
          </a:xfrm>
          <a:prstGeom prst="rect">
            <a:avLst/>
          </a:prstGeom>
          <a:noFill/>
          <a:ln/>
        </p:spPr>
        <p:txBody>
          <a:bodyPr wrap="square" lIns="0" tIns="0" rIns="0" bIns="0" rtlCol="0" anchor="ctr"/>
          <a:lstStyle/>
          <a:p>
            <a:pPr algn="l" indent="0" marL="0">
              <a:buNone/>
            </a:pPr>
            <a:r>
              <a:rPr lang="en-US" sz="1200" dirty="0">
                <a:solidFill>
                  <a:srgbClr val="9AA5AD"/>
                </a:solidFill>
                <a:latin typeface="Calibri" pitchFamily="34" charset="0"/>
                <a:ea typeface="Calibri" pitchFamily="34" charset="-122"/>
                <a:cs typeface="Calibri" pitchFamily="34" charset="-120"/>
              </a:rPr>
              <a:t>Technical interview preparation. PIHPS (Bank Indonesia), Open-Meteo ERA5, BBM Solar price. 2017 to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60120"/>
          </a:xfrm>
          <a:prstGeom prst="rect">
            <a:avLst/>
          </a:prstGeom>
          <a:noFill/>
          <a:ln/>
        </p:spPr>
        <p:txBody>
          <a:bodyPr wrap="square" lIns="0" tIns="0" rIns="0" bIns="0" rtlCol="0" anchor="t"/>
          <a:lstStyle/>
          <a:p>
            <a:pPr algn="l" indent="0" marL="0">
              <a:buNone/>
            </a:pPr>
            <a:r>
              <a:rPr lang="en-US" sz="2500" b="1" dirty="0">
                <a:solidFill>
                  <a:srgbClr val="1F2A30"/>
                </a:solidFill>
                <a:latin typeface="Cambria" pitchFamily="34" charset="0"/>
                <a:ea typeface="Cambria" pitchFamily="34" charset="-122"/>
                <a:cs typeface="Cambria" pitchFamily="34" charset="-120"/>
              </a:rPr>
              <a:t>The problem, defined precisely before any modelling</a:t>
            </a:r>
            <a:endParaRPr lang="en-US" sz="2500" dirty="0"/>
          </a:p>
        </p:txBody>
      </p:sp>
      <p:sp>
        <p:nvSpPr>
          <p:cNvPr id="3" name="Shape 1"/>
          <p:cNvSpPr/>
          <p:nvPr/>
        </p:nvSpPr>
        <p:spPr>
          <a:xfrm>
            <a:off x="548640" y="1600200"/>
            <a:ext cx="3514344" cy="2331720"/>
          </a:xfrm>
          <a:prstGeom prst="rect">
            <a:avLst/>
          </a:prstGeom>
          <a:solidFill>
            <a:srgbClr val="F2F4F5"/>
          </a:solidFill>
          <a:ln/>
        </p:spPr>
      </p:sp>
      <p:sp>
        <p:nvSpPr>
          <p:cNvPr id="4" name="Text 2"/>
          <p:cNvSpPr txBox="1"/>
          <p:nvPr/>
        </p:nvSpPr>
        <p:spPr>
          <a:xfrm>
            <a:off x="749808" y="1801368"/>
            <a:ext cx="3112008" cy="685800"/>
          </a:xfrm>
          <a:prstGeom prst="rect">
            <a:avLst/>
          </a:prstGeom>
          <a:noFill/>
          <a:ln/>
        </p:spPr>
        <p:txBody>
          <a:bodyPr wrap="square" lIns="0" tIns="0" rIns="0" bIns="0" rtlCol="0" anchor="ctr"/>
          <a:lstStyle/>
          <a:p>
            <a:pPr algn="l" indent="0" marL="0">
              <a:buNone/>
            </a:pPr>
            <a:r>
              <a:rPr lang="en-US" sz="3000" b="1" dirty="0">
                <a:solidFill>
                  <a:srgbClr val="1F2A30"/>
                </a:solidFill>
                <a:latin typeface="Cambria" pitchFamily="34" charset="0"/>
                <a:ea typeface="Cambria" pitchFamily="34" charset="-122"/>
                <a:cs typeface="Cambria" pitchFamily="34" charset="-120"/>
              </a:rPr>
              <a:t>t + 7</a:t>
            </a:r>
            <a:endParaRPr lang="en-US" sz="3000" dirty="0"/>
          </a:p>
        </p:txBody>
      </p:sp>
      <p:sp>
        <p:nvSpPr>
          <p:cNvPr id="5" name="Text 3"/>
          <p:cNvSpPr txBox="1"/>
          <p:nvPr/>
        </p:nvSpPr>
        <p:spPr>
          <a:xfrm>
            <a:off x="749808" y="2514600"/>
            <a:ext cx="3112008" cy="1234440"/>
          </a:xfrm>
          <a:prstGeom prst="rect">
            <a:avLst/>
          </a:prstGeom>
          <a:noFill/>
          <a:ln/>
        </p:spPr>
        <p:txBody>
          <a:bodyPr wrap="square" lIns="0" tIns="0" rIns="0" bIns="0" rtlCol="0" anchor="t"/>
          <a:lstStyle/>
          <a:p>
            <a:pPr algn="l" indent="0" marL="0">
              <a:buNone/>
            </a:pPr>
            <a:r>
              <a:rPr lang="en-US" sz="1250" dirty="0">
                <a:solidFill>
                  <a:srgbClr val="5B6770"/>
                </a:solidFill>
                <a:latin typeface="Calibri" pitchFamily="34" charset="0"/>
                <a:ea typeface="Calibri" pitchFamily="34" charset="-122"/>
                <a:cs typeface="Calibri" pitchFamily="34" charset="-120"/>
              </a:rPr>
              <a:t>Target: raw PIHPS price at origin t plus 7 working days, Rp per kg, per province. Unfilled: unreported target days are dropped, never invented.</a:t>
            </a:r>
            <a:endParaRPr lang="en-US" sz="1250" dirty="0"/>
          </a:p>
        </p:txBody>
      </p:sp>
      <p:sp>
        <p:nvSpPr>
          <p:cNvPr id="6" name="Shape 4"/>
          <p:cNvSpPr/>
          <p:nvPr/>
        </p:nvSpPr>
        <p:spPr>
          <a:xfrm>
            <a:off x="4337304" y="1600200"/>
            <a:ext cx="3514344" cy="2331720"/>
          </a:xfrm>
          <a:prstGeom prst="rect">
            <a:avLst/>
          </a:prstGeom>
          <a:solidFill>
            <a:srgbClr val="F2F4F5"/>
          </a:solidFill>
          <a:ln/>
        </p:spPr>
      </p:sp>
      <p:sp>
        <p:nvSpPr>
          <p:cNvPr id="7" name="Text 5"/>
          <p:cNvSpPr txBox="1"/>
          <p:nvPr/>
        </p:nvSpPr>
        <p:spPr>
          <a:xfrm>
            <a:off x="4538472" y="1801368"/>
            <a:ext cx="3112008" cy="685800"/>
          </a:xfrm>
          <a:prstGeom prst="rect">
            <a:avLst/>
          </a:prstGeom>
          <a:noFill/>
          <a:ln/>
        </p:spPr>
        <p:txBody>
          <a:bodyPr wrap="square" lIns="0" tIns="0" rIns="0" bIns="0" rtlCol="0" anchor="ctr"/>
          <a:lstStyle/>
          <a:p>
            <a:pPr algn="l" indent="0" marL="0">
              <a:buNone/>
            </a:pPr>
            <a:r>
              <a:rPr lang="en-US" sz="3000" b="1" dirty="0">
                <a:solidFill>
                  <a:srgbClr val="1F2A30"/>
                </a:solidFill>
                <a:latin typeface="Cambria" pitchFamily="34" charset="0"/>
                <a:ea typeface="Cambria" pitchFamily="34" charset="-122"/>
                <a:cs typeface="Cambria" pitchFamily="34" charset="-120"/>
              </a:rPr>
              <a:t>6 x ~2.3k</a:t>
            </a:r>
            <a:endParaRPr lang="en-US" sz="3000" dirty="0"/>
          </a:p>
        </p:txBody>
      </p:sp>
      <p:sp>
        <p:nvSpPr>
          <p:cNvPr id="8" name="Text 6"/>
          <p:cNvSpPr txBox="1"/>
          <p:nvPr/>
        </p:nvSpPr>
        <p:spPr>
          <a:xfrm>
            <a:off x="4538472" y="2514600"/>
            <a:ext cx="3112008" cy="1234440"/>
          </a:xfrm>
          <a:prstGeom prst="rect">
            <a:avLst/>
          </a:prstGeom>
          <a:noFill/>
          <a:ln/>
        </p:spPr>
        <p:txBody>
          <a:bodyPr wrap="square" lIns="0" tIns="0" rIns="0" bIns="0" rtlCol="0" anchor="t"/>
          <a:lstStyle/>
          <a:p>
            <a:pPr algn="l" indent="0" marL="0">
              <a:buNone/>
            </a:pPr>
            <a:r>
              <a:rPr lang="en-US" sz="1250" dirty="0">
                <a:solidFill>
                  <a:srgbClr val="5B6770"/>
                </a:solidFill>
                <a:latin typeface="Calibri" pitchFamily="34" charset="0"/>
                <a:ea typeface="Calibri" pitchFamily="34" charset="-122"/>
                <a:cs typeface="Calibri" pitchFamily="34" charset="-120"/>
              </a:rPr>
              <a:t>Unit of analysis: (province, working day) origin. 6 provinces times roughly 2,300 to 2,400 working days each.</a:t>
            </a:r>
            <a:endParaRPr lang="en-US" sz="1250" dirty="0"/>
          </a:p>
        </p:txBody>
      </p:sp>
      <p:sp>
        <p:nvSpPr>
          <p:cNvPr id="9" name="Shape 7"/>
          <p:cNvSpPr/>
          <p:nvPr/>
        </p:nvSpPr>
        <p:spPr>
          <a:xfrm>
            <a:off x="8125968" y="1600200"/>
            <a:ext cx="3514344" cy="2331720"/>
          </a:xfrm>
          <a:prstGeom prst="rect">
            <a:avLst/>
          </a:prstGeom>
          <a:solidFill>
            <a:srgbClr val="F2F4F5"/>
          </a:solidFill>
          <a:ln/>
        </p:spPr>
      </p:sp>
      <p:sp>
        <p:nvSpPr>
          <p:cNvPr id="10" name="Text 8"/>
          <p:cNvSpPr txBox="1"/>
          <p:nvPr/>
        </p:nvSpPr>
        <p:spPr>
          <a:xfrm>
            <a:off x="8327136" y="1801368"/>
            <a:ext cx="3112008" cy="685800"/>
          </a:xfrm>
          <a:prstGeom prst="rect">
            <a:avLst/>
          </a:prstGeom>
          <a:noFill/>
          <a:ln/>
        </p:spPr>
        <p:txBody>
          <a:bodyPr wrap="square" lIns="0" tIns="0" rIns="0" bIns="0" rtlCol="0" anchor="ctr"/>
          <a:lstStyle/>
          <a:p>
            <a:pPr algn="l" indent="0" marL="0">
              <a:buNone/>
            </a:pPr>
            <a:r>
              <a:rPr lang="en-US" sz="3000" b="1" dirty="0">
                <a:solidFill>
                  <a:srgbClr val="1F2A30"/>
                </a:solidFill>
                <a:latin typeface="Cambria" pitchFamily="34" charset="0"/>
                <a:ea typeface="Cambria" pitchFamily="34" charset="-122"/>
                <a:cs typeface="Cambria" pitchFamily="34" charset="-120"/>
              </a:rPr>
              <a:t>Direct</a:t>
            </a:r>
            <a:endParaRPr lang="en-US" sz="3000" dirty="0"/>
          </a:p>
        </p:txBody>
      </p:sp>
      <p:sp>
        <p:nvSpPr>
          <p:cNvPr id="11" name="Text 9"/>
          <p:cNvSpPr txBox="1"/>
          <p:nvPr/>
        </p:nvSpPr>
        <p:spPr>
          <a:xfrm>
            <a:off x="8327136" y="2514600"/>
            <a:ext cx="3112008" cy="1234440"/>
          </a:xfrm>
          <a:prstGeom prst="rect">
            <a:avLst/>
          </a:prstGeom>
          <a:noFill/>
          <a:ln/>
        </p:spPr>
        <p:txBody>
          <a:bodyPr wrap="square" lIns="0" tIns="0" rIns="0" bIns="0" rtlCol="0" anchor="t"/>
          <a:lstStyle/>
          <a:p>
            <a:pPr algn="l" indent="0" marL="0">
              <a:buNone/>
            </a:pPr>
            <a:r>
              <a:rPr lang="en-US" sz="1250" dirty="0">
                <a:solidFill>
                  <a:srgbClr val="5B6770"/>
                </a:solidFill>
                <a:latin typeface="Calibri" pitchFamily="34" charset="0"/>
                <a:ea typeface="Calibri" pitchFamily="34" charset="-122"/>
                <a:cs typeface="Calibri" pitchFamily="34" charset="-120"/>
              </a:rPr>
              <a:t>Task type: direct multi step regression on the 7 day ahead log price change, not a recursive 1 step model.</a:t>
            </a:r>
            <a:endParaRPr lang="en-US" sz="1250" dirty="0"/>
          </a:p>
        </p:txBody>
      </p:sp>
      <p:sp>
        <p:nvSpPr>
          <p:cNvPr id="12" name="Text 10"/>
          <p:cNvSpPr txBox="1"/>
          <p:nvPr/>
        </p:nvSpPr>
        <p:spPr>
          <a:xfrm>
            <a:off x="548640" y="4160520"/>
            <a:ext cx="11091672" cy="2103120"/>
          </a:xfrm>
          <a:prstGeom prst="rect">
            <a:avLst/>
          </a:prstGeom>
          <a:noFill/>
          <a:ln/>
        </p:spPr>
        <p:txBody>
          <a:bodyPr wrap="square" lIns="0" tIns="0" rIns="0" bIns="0" rtlCol="0" anchor="t"/>
          <a:lstStyle/>
          <a:p>
            <a:pPr algn="l" marL="342900" indent="-342900">
              <a:spcAft>
                <a:spcPts val="1000"/>
              </a:spcAft>
              <a:buSzPct val="100000"/>
              <a:buChar char="•"/>
            </a:pPr>
            <a:r>
              <a:rPr lang="en-US" sz="1350" dirty="0">
                <a:solidFill>
                  <a:srgbClr val="1F2A30"/>
                </a:solidFill>
                <a:latin typeface="Calibri" pitchFamily="34" charset="0"/>
                <a:ea typeface="Calibri" pitchFamily="34" charset="-122"/>
                <a:cs typeface="Calibri" pitchFamily="34" charset="-120"/>
              </a:rPr>
              <a:t>Why chili: the most volatile commodity in the PIHPS series (far exceeds flat staples like rice), about 1,100 working days of history per province, and plausible external drivers to test: rainfall, religious calendar demand, cross region arbitrage, fuel cost pass through.</a:t>
            </a:r>
            <a:endParaRPr lang="en-US" sz="1350" dirty="0"/>
          </a:p>
          <a:p>
            <a:pPr algn="l" marL="342900" indent="-342900">
              <a:spcAft>
                <a:spcPts val="1000"/>
              </a:spcAft>
              <a:buSzPct val="100000"/>
              <a:buChar char="•"/>
            </a:pPr>
            <a:r>
              <a:rPr lang="en-US" sz="1350" dirty="0">
                <a:solidFill>
                  <a:srgbClr val="1F2A30"/>
                </a:solidFill>
                <a:latin typeface="Calibri" pitchFamily="34" charset="0"/>
                <a:ea typeface="Calibri" pitchFamily="34" charset="-122"/>
                <a:cs typeface="Calibri" pitchFamily="34" charset="-120"/>
              </a:rPr>
              <a:t>Why these 6 provinces: screened from 34 on coverage of 93 percent or more of working days and meaningful price volatility (CV), so the series is not flat. DKI Jakarta is a deliberate exception, added as a demand anchor market despite having the lowest CV of the six (40.6 percent), a decision tested and defended in the EDA, not asserted.</a:t>
            </a:r>
            <a:endParaRPr lang="en-US" sz="1350" dirty="0"/>
          </a:p>
        </p:txBody>
      </p:sp>
      <p:sp>
        <p:nvSpPr>
          <p:cNvPr id="13" name="Text 11"/>
          <p:cNvSpPr txBox="1"/>
          <p:nvPr/>
        </p:nvSpPr>
        <p:spPr>
          <a:xfrm>
            <a:off x="548640" y="6400800"/>
            <a:ext cx="11091672" cy="320040"/>
          </a:xfrm>
          <a:prstGeom prst="rect">
            <a:avLst/>
          </a:prstGeom>
          <a:noFill/>
          <a:ln/>
        </p:spPr>
        <p:txBody>
          <a:bodyPr wrap="square" lIns="0" tIns="0" rIns="0" bIns="0" rtlCol="0" anchor="ctr"/>
          <a:lstStyle/>
          <a:p>
            <a:pPr algn="l" indent="0" marL="0">
              <a:buNone/>
            </a:pPr>
            <a:r>
              <a:rPr lang="en-US" sz="1000" dirty="0">
                <a:solidFill>
                  <a:srgbClr val="5B6770"/>
                </a:solidFill>
                <a:latin typeface="Calibri" pitchFamily="34" charset="0"/>
                <a:ea typeface="Calibri" pitchFamily="34" charset="-122"/>
                <a:cs typeface="Calibri" pitchFamily="34" charset="-120"/>
              </a:rPr>
              <a:t>Dataset selection criteria: public and verifiable (Bank Indonesia, Open-Meteo), 100 or more ordered observations per series (met many times over), original and requiring real preparation.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60120"/>
          </a:xfrm>
          <a:prstGeom prst="rect">
            <a:avLst/>
          </a:prstGeom>
          <a:noFill/>
          <a:ln/>
        </p:spPr>
        <p:txBody>
          <a:bodyPr wrap="square" lIns="0" tIns="0" rIns="0" bIns="0" rtlCol="0" anchor="t"/>
          <a:lstStyle/>
          <a:p>
            <a:pPr algn="l" indent="0" marL="0">
              <a:buNone/>
            </a:pPr>
            <a:r>
              <a:rPr lang="en-US" sz="2500" b="1" dirty="0">
                <a:solidFill>
                  <a:srgbClr val="1F2A30"/>
                </a:solidFill>
                <a:latin typeface="Cambria" pitchFamily="34" charset="0"/>
                <a:ea typeface="Cambria" pitchFamily="34" charset="-122"/>
                <a:cs typeface="Cambria" pitchFamily="34" charset="-120"/>
              </a:rPr>
              <a:t>Data: three public sources, merged into one leak safe panel</a:t>
            </a:r>
            <a:endParaRPr lang="en-US" sz="2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2560320"/>
        </p:xfrm>
        <a:graphic>
          <a:graphicData uri="http://schemas.openxmlformats.org/drawingml/2006/table">
            <a:tbl>
              <a:tblPr/>
              <a:tblGrid>
                <a:gridCol w="2697480"/>
                <a:gridCol w="5532120"/>
                <a:gridCol w="2743200"/>
              </a:tblGrid>
              <a:tr h="6400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provides</a:t>
                      </a:r>
                      <a:endParaRPr lang="en-US" sz="120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Pipeline step</a:t>
                      </a:r>
                      <a:endParaRPr lang="en-US" sz="120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r>
              <a:tr h="640080">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PIHPS Nasional, Bank Indonesia</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Daily traditional market price, Rp per kg, 6 provinces plus national average</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scripts/fetch_pihps.py</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640080">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Open-Meteo ERA5 reanalysis</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Precipitation, temperature, humidity, shortwave radiation, ET0 at each provincial capital</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scripts/fetch_weather.py</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640080">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BBM Solar price (subsidised diesel)</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Rp per liter in force on each date, from a hand compiled table of 6 cited government price events (2015 to 2022). Tested as a candidate feature, dropped by the ablation (slide 12).</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scripts/fetch_bbm.py</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343400"/>
            <a:ext cx="3514344" cy="1920240"/>
          </a:xfrm>
          <a:prstGeom prst="rect">
            <a:avLst/>
          </a:prstGeom>
          <a:solidFill>
            <a:srgbClr val="F2F4F5"/>
          </a:solidFill>
          <a:ln/>
        </p:spPr>
      </p:sp>
      <p:sp>
        <p:nvSpPr>
          <p:cNvPr id="5" name="Text 2"/>
          <p:cNvSpPr txBox="1"/>
          <p:nvPr/>
        </p:nvSpPr>
        <p:spPr>
          <a:xfrm>
            <a:off x="749808" y="4544568"/>
            <a:ext cx="3112008" cy="685800"/>
          </a:xfrm>
          <a:prstGeom prst="rect">
            <a:avLst/>
          </a:prstGeom>
          <a:noFill/>
          <a:ln/>
        </p:spPr>
        <p:txBody>
          <a:bodyPr wrap="square" lIns="0" tIns="0" rIns="0" bIns="0" rtlCol="0" anchor="ctr"/>
          <a:lstStyle/>
          <a:p>
            <a:pPr algn="l" indent="0" marL="0">
              <a:buNone/>
            </a:pPr>
            <a:r>
              <a:rPr lang="en-US" sz="3000" b="1" dirty="0">
                <a:solidFill>
                  <a:srgbClr val="5E8C6A"/>
                </a:solidFill>
                <a:latin typeface="Cambria" pitchFamily="34" charset="0"/>
                <a:ea typeface="Cambria" pitchFamily="34" charset="-122"/>
                <a:cs typeface="Cambria" pitchFamily="34" charset="-120"/>
              </a:rPr>
              <a:t>33</a:t>
            </a:r>
            <a:endParaRPr lang="en-US" sz="3000" dirty="0"/>
          </a:p>
        </p:txBody>
      </p:sp>
      <p:sp>
        <p:nvSpPr>
          <p:cNvPr id="6" name="Text 3"/>
          <p:cNvSpPr txBox="1"/>
          <p:nvPr/>
        </p:nvSpPr>
        <p:spPr>
          <a:xfrm>
            <a:off x="749808" y="5257800"/>
            <a:ext cx="3112008" cy="822960"/>
          </a:xfrm>
          <a:prstGeom prst="rect">
            <a:avLst/>
          </a:prstGeom>
          <a:noFill/>
          <a:ln/>
        </p:spPr>
        <p:txBody>
          <a:bodyPr wrap="square" lIns="0" tIns="0" rIns="0" bIns="0" rtlCol="0" anchor="t"/>
          <a:lstStyle/>
          <a:p>
            <a:pPr algn="l" indent="0" marL="0">
              <a:buNone/>
            </a:pPr>
            <a:r>
              <a:rPr lang="en-US" sz="1250" dirty="0">
                <a:solidFill>
                  <a:srgbClr val="5B6770"/>
                </a:solidFill>
                <a:latin typeface="Calibri" pitchFamily="34" charset="0"/>
                <a:ea typeface="Calibri" pitchFamily="34" charset="-122"/>
                <a:cs typeface="Calibri" pitchFamily="34" charset="-120"/>
              </a:rPr>
              <a:t>columns in the final merged panel: identifiers plus 25 leak safe weather features plus solar_rp_per_l</a:t>
            </a:r>
            <a:endParaRPr lang="en-US" sz="1250" dirty="0"/>
          </a:p>
        </p:txBody>
      </p:sp>
      <p:sp>
        <p:nvSpPr>
          <p:cNvPr id="7" name="Shape 4"/>
          <p:cNvSpPr/>
          <p:nvPr/>
        </p:nvSpPr>
        <p:spPr>
          <a:xfrm>
            <a:off x="4337304" y="4343400"/>
            <a:ext cx="3514344" cy="1920240"/>
          </a:xfrm>
          <a:prstGeom prst="rect">
            <a:avLst/>
          </a:prstGeom>
          <a:solidFill>
            <a:srgbClr val="F2F4F5"/>
          </a:solidFill>
          <a:ln/>
        </p:spPr>
      </p:sp>
      <p:sp>
        <p:nvSpPr>
          <p:cNvPr id="8" name="Text 5"/>
          <p:cNvSpPr txBox="1"/>
          <p:nvPr/>
        </p:nvSpPr>
        <p:spPr>
          <a:xfrm>
            <a:off x="4538472" y="4544568"/>
            <a:ext cx="3112008" cy="685800"/>
          </a:xfrm>
          <a:prstGeom prst="rect">
            <a:avLst/>
          </a:prstGeom>
          <a:noFill/>
          <a:ln/>
        </p:spPr>
        <p:txBody>
          <a:bodyPr wrap="square" lIns="0" tIns="0" rIns="0" bIns="0" rtlCol="0" anchor="ctr"/>
          <a:lstStyle/>
          <a:p>
            <a:pPr algn="l" indent="0" marL="0">
              <a:buNone/>
            </a:pPr>
            <a:r>
              <a:rPr lang="en-US" sz="3000" b="1" dirty="0">
                <a:solidFill>
                  <a:srgbClr val="5E8C6A"/>
                </a:solidFill>
                <a:latin typeface="Cambria" pitchFamily="34" charset="0"/>
                <a:ea typeface="Cambria" pitchFamily="34" charset="-122"/>
                <a:cs typeface="Cambria" pitchFamily="34" charset="-120"/>
              </a:rPr>
              <a:t>14,680</a:t>
            </a:r>
            <a:endParaRPr lang="en-US" sz="3000" dirty="0"/>
          </a:p>
        </p:txBody>
      </p:sp>
      <p:sp>
        <p:nvSpPr>
          <p:cNvPr id="9" name="Text 6"/>
          <p:cNvSpPr txBox="1"/>
          <p:nvPr/>
        </p:nvSpPr>
        <p:spPr>
          <a:xfrm>
            <a:off x="4538472" y="5257800"/>
            <a:ext cx="3112008" cy="822960"/>
          </a:xfrm>
          <a:prstGeom prst="rect">
            <a:avLst/>
          </a:prstGeom>
          <a:noFill/>
          <a:ln/>
        </p:spPr>
        <p:txBody>
          <a:bodyPr wrap="square" lIns="0" tIns="0" rIns="0" bIns="0" rtlCol="0" anchor="t"/>
          <a:lstStyle/>
          <a:p>
            <a:pPr algn="l" indent="0" marL="0">
              <a:buNone/>
            </a:pPr>
            <a:r>
              <a:rPr lang="en-US" sz="1250" dirty="0">
                <a:solidFill>
                  <a:srgbClr val="5B6770"/>
                </a:solidFill>
                <a:latin typeface="Calibri" pitchFamily="34" charset="0"/>
                <a:ea typeface="Calibri" pitchFamily="34" charset="-122"/>
                <a:cs typeface="Calibri" pitchFamily="34" charset="-120"/>
              </a:rPr>
              <a:t>rows, one per province and working day, 2017-04-03 to 2026-10-16</a:t>
            </a:r>
            <a:endParaRPr lang="en-US" sz="1250" dirty="0"/>
          </a:p>
        </p:txBody>
      </p:sp>
      <p:sp>
        <p:nvSpPr>
          <p:cNvPr id="10" name="Shape 7"/>
          <p:cNvSpPr/>
          <p:nvPr/>
        </p:nvSpPr>
        <p:spPr>
          <a:xfrm>
            <a:off x="8125968" y="4343400"/>
            <a:ext cx="3514344" cy="1920240"/>
          </a:xfrm>
          <a:prstGeom prst="rect">
            <a:avLst/>
          </a:prstGeom>
          <a:solidFill>
            <a:srgbClr val="F2F4F5"/>
          </a:solidFill>
          <a:ln/>
        </p:spPr>
      </p:sp>
      <p:sp>
        <p:nvSpPr>
          <p:cNvPr id="11" name="Text 8"/>
          <p:cNvSpPr txBox="1"/>
          <p:nvPr/>
        </p:nvSpPr>
        <p:spPr>
          <a:xfrm>
            <a:off x="8327136" y="4544568"/>
            <a:ext cx="3112008" cy="685800"/>
          </a:xfrm>
          <a:prstGeom prst="rect">
            <a:avLst/>
          </a:prstGeom>
          <a:noFill/>
          <a:ln/>
        </p:spPr>
        <p:txBody>
          <a:bodyPr wrap="square" lIns="0" tIns="0" rIns="0" bIns="0" rtlCol="0" anchor="ctr"/>
          <a:lstStyle/>
          <a:p>
            <a:pPr algn="l" indent="0" marL="0">
              <a:buNone/>
            </a:pPr>
            <a:r>
              <a:rPr lang="en-US" sz="3000" b="1" dirty="0">
                <a:solidFill>
                  <a:srgbClr val="5E8C6A"/>
                </a:solidFill>
                <a:latin typeface="Cambria" pitchFamily="34" charset="0"/>
                <a:ea typeface="Cambria" pitchFamily="34" charset="-122"/>
                <a:cs typeface="Cambria" pitchFamily="34" charset="-120"/>
              </a:rPr>
              <a:t>0</a:t>
            </a:r>
            <a:endParaRPr lang="en-US" sz="3000" dirty="0"/>
          </a:p>
        </p:txBody>
      </p:sp>
      <p:sp>
        <p:nvSpPr>
          <p:cNvPr id="12" name="Text 9"/>
          <p:cNvSpPr txBox="1"/>
          <p:nvPr/>
        </p:nvSpPr>
        <p:spPr>
          <a:xfrm>
            <a:off x="8327136" y="5257800"/>
            <a:ext cx="3112008" cy="822960"/>
          </a:xfrm>
          <a:prstGeom prst="rect">
            <a:avLst/>
          </a:prstGeom>
          <a:noFill/>
          <a:ln/>
        </p:spPr>
        <p:txBody>
          <a:bodyPr wrap="square" lIns="0" tIns="0" rIns="0" bIns="0" rtlCol="0" anchor="t"/>
          <a:lstStyle/>
          <a:p>
            <a:pPr algn="l" indent="0" marL="0">
              <a:buNone/>
            </a:pPr>
            <a:r>
              <a:rPr lang="en-US" sz="1250" dirty="0">
                <a:solidFill>
                  <a:srgbClr val="5B6770"/>
                </a:solidFill>
                <a:latin typeface="Calibri" pitchFamily="34" charset="0"/>
                <a:ea typeface="Calibri" pitchFamily="34" charset="-122"/>
                <a:cs typeface="Calibri" pitchFamily="34" charset="-120"/>
              </a:rPr>
              <a:t>missing cells in any weather or Solar column. Only price itself has real market closure gaps</a:t>
            </a:r>
            <a:endParaRPr lang="en-US" sz="1250" dirty="0"/>
          </a:p>
        </p:txBody>
      </p:sp>
      <p:sp>
        <p:nvSpPr>
          <p:cNvPr id="13" name="Text 10"/>
          <p:cNvSpPr txBox="1"/>
          <p:nvPr/>
        </p:nvSpPr>
        <p:spPr>
          <a:xfrm>
            <a:off x="548640" y="6400800"/>
            <a:ext cx="11091672" cy="320040"/>
          </a:xfrm>
          <a:prstGeom prst="rect">
            <a:avLst/>
          </a:prstGeom>
          <a:noFill/>
          <a:ln/>
        </p:spPr>
        <p:txBody>
          <a:bodyPr wrap="square" lIns="0" tIns="0" rIns="0" bIns="0" rtlCol="0" anchor="ctr"/>
          <a:lstStyle/>
          <a:p>
            <a:pPr algn="l" indent="0" marL="0">
              <a:buNone/>
            </a:pPr>
            <a:r>
              <a:rPr lang="en-US" sz="1000" dirty="0">
                <a:solidFill>
                  <a:srgbClr val="5B6770"/>
                </a:solidFill>
                <a:latin typeface="Calibri" pitchFamily="34" charset="0"/>
                <a:ea typeface="Calibri" pitchFamily="34" charset="-122"/>
                <a:cs typeface="Calibri" pitchFamily="34" charset="-120"/>
              </a:rPr>
              <a:t>Every weather and price feature already obeys the project's leak convention at build time, not patched in afterward. See the leak safety framework next.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60120"/>
          </a:xfrm>
          <a:prstGeom prst="rect">
            <a:avLst/>
          </a:prstGeom>
          <a:noFill/>
          <a:ln/>
        </p:spPr>
        <p:txBody>
          <a:bodyPr wrap="square" lIns="0" tIns="0" rIns="0" bIns="0" rtlCol="0" anchor="t"/>
          <a:lstStyle/>
          <a:p>
            <a:pPr algn="l" indent="0" marL="0">
              <a:buNone/>
            </a:pPr>
            <a:r>
              <a:rPr lang="en-US" sz="2500" b="1" dirty="0">
                <a:solidFill>
                  <a:srgbClr val="1F2A30"/>
                </a:solidFill>
                <a:latin typeface="Cambria" pitchFamily="34" charset="0"/>
                <a:ea typeface="Cambria" pitchFamily="34" charset="-122"/>
                <a:cs typeface="Cambria" pitchFamily="34" charset="-120"/>
              </a:rPr>
              <a:t>Data quality findings that drove preparation decisions</a:t>
            </a:r>
            <a:endParaRPr lang="en-US" sz="2500" dirty="0"/>
          </a:p>
        </p:txBody>
      </p:sp>
      <p:pic>
        <p:nvPicPr>
          <p:cNvPr id="3" name="Image 0" descr="/home/virtuozs/college/Predictive-Analysis/UAS/pihps-cabai-rawit-forecast/presentation/draft_pitch/charts/missingness.png">    </p:cNvPr>
          <p:cNvPicPr>
            <a:picLocks noChangeAspect="1"/>
          </p:cNvPicPr>
          <p:nvPr/>
        </p:nvPicPr>
        <p:blipFill>
          <a:blip r:embed="rId1"/>
          <a:stretch>
            <a:fillRect/>
          </a:stretch>
        </p:blipFill>
        <p:spPr>
          <a:xfrm>
            <a:off x="548640" y="1417320"/>
            <a:ext cx="6675120" cy="1376629"/>
          </a:xfrm>
          <a:prstGeom prst="rect">
            <a:avLst/>
          </a:prstGeom>
        </p:spPr>
      </p:pic>
      <p:sp>
        <p:nvSpPr>
          <p:cNvPr id="4" name="Text 1"/>
          <p:cNvSpPr txBox="1"/>
          <p:nvPr/>
        </p:nvSpPr>
        <p:spPr>
          <a:xfrm>
            <a:off x="548640" y="2830525"/>
            <a:ext cx="6675120" cy="274320"/>
          </a:xfrm>
          <a:prstGeom prst="rect">
            <a:avLst/>
          </a:prstGeom>
          <a:noFill/>
          <a:ln/>
        </p:spPr>
        <p:txBody>
          <a:bodyPr wrap="square" lIns="0" tIns="0" rIns="0" bIns="0" rtlCol="0" anchor="ctr"/>
          <a:lstStyle/>
          <a:p>
            <a:pPr algn="ctr" indent="0" marL="0">
              <a:buNone/>
            </a:pPr>
            <a:r>
              <a:rPr lang="en-US" sz="1050" i="1" dirty="0">
                <a:solidFill>
                  <a:srgbClr val="5B6770"/>
                </a:solidFill>
                <a:latin typeface="Calibri" pitchFamily="34" charset="0"/>
                <a:ea typeface="Calibri" pitchFamily="34" charset="-122"/>
                <a:cs typeface="Calibri" pitchFamily="34" charset="-120"/>
              </a:rPr>
              <a:t>Percent working days missing by year, and missing cells over time, by province</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498080" y="1417320"/>
          <a:ext cx="4142232" cy="3566160"/>
        </p:xfrm>
        <a:graphic>
          <a:graphicData uri="http://schemas.openxmlformats.org/drawingml/2006/table">
            <a:tbl>
              <a:tblPr/>
              <a:tblGrid>
                <a:gridCol w="1737360"/>
                <a:gridCol w="2286000"/>
              </a:tblGrid>
              <a:tr h="71323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Decision</a:t>
                      </a:r>
                      <a:endParaRPr lang="en-US" sz="100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r>
              <a:tr h="713232">
                <a:tc>
                  <a:txBody>
                    <a:bodyPr/>
                    <a:lstStyle/>
                    <a:p>
                      <a:pPr indent="0" marL="0">
                        <a:buNone/>
                      </a:pPr>
                      <a:r>
                        <a:rPr lang="en-US" sz="1000" dirty="0">
                          <a:solidFill>
                            <a:srgbClr val="1F2A30"/>
                          </a:solidFill>
                          <a:latin typeface="Calibri" pitchFamily="34" charset="0"/>
                          <a:ea typeface="Calibri" pitchFamily="34" charset="-122"/>
                          <a:cs typeface="Calibri" pitchFamily="34" charset="-120"/>
                        </a:rPr>
                        <a:t>44 shared gap dates across all provinces, matched to the holiday calendar</a:t>
                      </a:r>
                      <a:endParaRPr lang="en-US" sz="10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latin typeface="Calibri" pitchFamily="34" charset="0"/>
                          <a:ea typeface="Calibri" pitchFamily="34" charset="-122"/>
                          <a:cs typeface="Calibri" pitchFamily="34" charset="-120"/>
                        </a:rPr>
                        <a:t>Treat as structural (public holidays, elections), not random failure</a:t>
                      </a:r>
                      <a:endParaRPr lang="en-US" sz="10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713232">
                <a:tc>
                  <a:txBody>
                    <a:bodyPr/>
                    <a:lstStyle/>
                    <a:p>
                      <a:pPr indent="0" marL="0">
                        <a:buNone/>
                      </a:pPr>
                      <a:r>
                        <a:rPr lang="en-US" sz="1000" dirty="0">
                          <a:solidFill>
                            <a:srgbClr val="1F2A30"/>
                          </a:solidFill>
                          <a:latin typeface="Calibri" pitchFamily="34" charset="0"/>
                          <a:ea typeface="Calibri" pitchFamily="34" charset="-122"/>
                          <a:cs typeface="Calibri" pitchFamily="34" charset="-120"/>
                        </a:rPr>
                        <a:t>No all province gap after 17 Aug 2022</a:t>
                      </a:r>
                      <a:endParaRPr lang="en-US" sz="10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00" dirty="0">
                          <a:solidFill>
                            <a:srgbClr val="1F2A30"/>
                          </a:solidFill>
                          <a:latin typeface="Calibri" pitchFamily="34" charset="0"/>
                          <a:ea typeface="Calibri" pitchFamily="34" charset="-122"/>
                          <a:cs typeface="Calibri" pitchFamily="34" charset="-120"/>
                        </a:rPr>
                        <a:t>Recorded as a limitation. Pre and post 2022 data not fully comparable</a:t>
                      </a:r>
                      <a:endParaRPr lang="en-US" sz="10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713232">
                <a:tc>
                  <a:txBody>
                    <a:bodyPr/>
                    <a:lstStyle/>
                    <a:p>
                      <a:pPr indent="0" marL="0">
                        <a:buNone/>
                      </a:pPr>
                      <a:r>
                        <a:rPr lang="en-US" sz="1000" dirty="0">
                          <a:solidFill>
                            <a:srgbClr val="1F2A30"/>
                          </a:solidFill>
                          <a:latin typeface="Calibri" pitchFamily="34" charset="0"/>
                          <a:ea typeface="Calibri" pitchFamily="34" charset="-122"/>
                          <a:cs typeface="Calibri" pitchFamily="34" charset="-120"/>
                        </a:rPr>
                        <a:t>DKI Jakarta 45 percent, DI Yogyakarta 42 percent repeated value days</a:t>
                      </a:r>
                      <a:endParaRPr lang="en-US" sz="10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0"/>
                          </a:solidFill>
                          <a:latin typeface="Calibri" pitchFamily="34" charset="0"/>
                          <a:ea typeface="Calibri" pitchFamily="34" charset="-122"/>
                          <a:cs typeface="Calibri" pitchFamily="34" charset="-120"/>
                        </a:rPr>
                        <a:t>stale_days added as a feature, flagged as a limitation</a:t>
                      </a:r>
                      <a:endParaRPr lang="en-US" sz="10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713232">
                <a:tc>
                  <a:txBody>
                    <a:bodyPr/>
                    <a:lstStyle/>
                    <a:p>
                      <a:pPr indent="0" marL="0">
                        <a:buNone/>
                      </a:pPr>
                      <a:r>
                        <a:rPr lang="en-US" sz="1000" dirty="0">
                          <a:solidFill>
                            <a:srgbClr val="1F2A30"/>
                          </a:solidFill>
                          <a:latin typeface="Calibri" pitchFamily="34" charset="0"/>
                          <a:ea typeface="Calibri" pitchFamily="34" charset="-122"/>
                          <a:cs typeface="Calibri" pitchFamily="34" charset="-120"/>
                        </a:rPr>
                        <a:t>1 to 3 one day price reversals per province</a:t>
                      </a:r>
                      <a:endParaRPr lang="en-US" sz="10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00" dirty="0">
                          <a:solidFill>
                            <a:srgbClr val="1F2A30"/>
                          </a:solidFill>
                          <a:latin typeface="Calibri" pitchFamily="34" charset="0"/>
                          <a:ea typeface="Calibri" pitchFamily="34" charset="-122"/>
                          <a:cs typeface="Calibri" pitchFamily="34" charset="-120"/>
                        </a:rPr>
                        <a:t>Kept, not clipped. Documented, not silently removed</a:t>
                      </a:r>
                      <a:endParaRPr lang="en-US" sz="10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bl>
          </a:graphicData>
        </a:graphic>
      </p:graphicFrame>
      <p:sp>
        <p:nvSpPr>
          <p:cNvPr id="6" name="Text 2"/>
          <p:cNvSpPr txBox="1"/>
          <p:nvPr/>
        </p:nvSpPr>
        <p:spPr>
          <a:xfrm>
            <a:off x="548640" y="6400800"/>
            <a:ext cx="11091672" cy="320040"/>
          </a:xfrm>
          <a:prstGeom prst="rect">
            <a:avLst/>
          </a:prstGeom>
          <a:noFill/>
          <a:ln/>
        </p:spPr>
        <p:txBody>
          <a:bodyPr wrap="square" lIns="0" tIns="0" rIns="0" bIns="0" rtlCol="0" anchor="ctr"/>
          <a:lstStyle/>
          <a:p>
            <a:pPr algn="l" indent="0" marL="0">
              <a:buNone/>
            </a:pPr>
            <a:r>
              <a:rPr lang="en-US" sz="1000" dirty="0">
                <a:solidFill>
                  <a:srgbClr val="5B6770"/>
                </a:solidFill>
                <a:latin typeface="Calibri" pitchFamily="34" charset="0"/>
                <a:ea typeface="Calibri" pitchFamily="34" charset="-122"/>
                <a:cs typeface="Calibri" pitchFamily="34" charset="-120"/>
              </a:rPr>
              <a:t>Resulting rule, implemented in section 4: forward fill for features only, never fill targets, never interpolate.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2A30"/>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457200"/>
          </a:xfrm>
          <a:prstGeom prst="rect">
            <a:avLst/>
          </a:prstGeom>
          <a:noFill/>
          <a:ln/>
        </p:spPr>
        <p:txBody>
          <a:bodyPr wrap="square" lIns="0" tIns="0" rIns="0" bIns="0" rtlCol="0" anchor="ctr"/>
          <a:lstStyle/>
          <a:p>
            <a:pPr algn="l" indent="0" marL="0">
              <a:buNone/>
            </a:pPr>
            <a:r>
              <a:rPr lang="en-US" sz="1400" b="1" spc="200" kern="0" dirty="0">
                <a:solidFill>
                  <a:srgbClr val="B83227"/>
                </a:solidFill>
                <a:latin typeface="Calibri" pitchFamily="34" charset="0"/>
                <a:ea typeface="Calibri" pitchFamily="34" charset="-122"/>
                <a:cs typeface="Calibri" pitchFamily="34" charset="-120"/>
              </a:rPr>
              <a:t>METHODOLOGY</a:t>
            </a:r>
            <a:endParaRPr lang="en-US" sz="1400" dirty="0"/>
          </a:p>
        </p:txBody>
      </p:sp>
      <p:sp>
        <p:nvSpPr>
          <p:cNvPr id="3" name="Text 1"/>
          <p:cNvSpPr txBox="1"/>
          <p:nvPr/>
        </p:nvSpPr>
        <p:spPr>
          <a:xfrm>
            <a:off x="548640" y="3200400"/>
            <a:ext cx="11091672" cy="14630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Leak safety was designed before a single feature was built</a:t>
            </a:r>
            <a:endParaRPr lang="en-US" sz="3400" dirty="0"/>
          </a:p>
        </p:txBody>
      </p:sp>
      <p:sp>
        <p:nvSpPr>
          <p:cNvPr id="4" name="Text 2"/>
          <p:cNvSpPr txBox="1"/>
          <p:nvPr/>
        </p:nvSpPr>
        <p:spPr>
          <a:xfrm>
            <a:off x="548640" y="4572000"/>
            <a:ext cx="11091672" cy="457200"/>
          </a:xfrm>
          <a:prstGeom prst="rect">
            <a:avLst/>
          </a:prstGeom>
          <a:noFill/>
          <a:ln/>
        </p:spPr>
        <p:txBody>
          <a:bodyPr wrap="square" lIns="0" tIns="0" rIns="0" bIns="0" rtlCol="0" anchor="ctr"/>
          <a:lstStyle/>
          <a:p>
            <a:pPr algn="l" indent="0" marL="0">
              <a:buNone/>
            </a:pPr>
            <a:r>
              <a:rPr lang="en-US" sz="1400" dirty="0">
                <a:solidFill>
                  <a:srgbClr val="F2F4F5"/>
                </a:solidFill>
                <a:latin typeface="Calibri" pitchFamily="34" charset="0"/>
                <a:ea typeface="Calibri" pitchFamily="34" charset="-122"/>
                <a:cs typeface="Calibri" pitchFamily="34" charset="-120"/>
              </a:rPr>
              <a:t>A risk register, written up front. Each row checked by an assertion in code, not just claimed in prose.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60120"/>
          </a:xfrm>
          <a:prstGeom prst="rect">
            <a:avLst/>
          </a:prstGeom>
          <a:noFill/>
          <a:ln/>
        </p:spPr>
        <p:txBody>
          <a:bodyPr wrap="square" lIns="0" tIns="0" rIns="0" bIns="0" rtlCol="0" anchor="t"/>
          <a:lstStyle/>
          <a:p>
            <a:pPr algn="l" indent="0" marL="0">
              <a:buNone/>
            </a:pPr>
            <a:r>
              <a:rPr lang="en-US" sz="2500" b="1" dirty="0">
                <a:solidFill>
                  <a:srgbClr val="1F2A30"/>
                </a:solidFill>
                <a:latin typeface="Cambria" pitchFamily="34" charset="0"/>
                <a:ea typeface="Cambria" pitchFamily="34" charset="-122"/>
                <a:cs typeface="Cambria" pitchFamily="34" charset="-120"/>
              </a:rPr>
              <a:t>Every leakage risk identified up front, each with its own check</a:t>
            </a:r>
            <a:endParaRPr lang="en-US" sz="2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3931920"/>
        </p:xfrm>
        <a:graphic>
          <a:graphicData uri="http://schemas.openxmlformats.org/drawingml/2006/table">
            <a:tbl>
              <a:tblPr/>
              <a:tblGrid>
                <a:gridCol w="3291840"/>
                <a:gridCol w="3108960"/>
                <a:gridCol w="4617720"/>
              </a:tblGrid>
              <a:tr h="561703">
                <a:tc>
                  <a:txBody>
                    <a:bodyPr/>
                    <a:lstStyle/>
                    <a:p>
                      <a:pPr indent="0" marL="0">
                        <a:buNone/>
                      </a:pPr>
                      <a:r>
                        <a:rPr lang="en-US" sz="1080" b="1" dirty="0">
                          <a:solidFill>
                            <a:srgbClr val="FFFFFF"/>
                          </a:solidFill>
                          <a:latin typeface="Calibri" pitchFamily="34" charset="0"/>
                          <a:ea typeface="Calibri" pitchFamily="34" charset="-122"/>
                          <a:cs typeface="Calibri" pitchFamily="34" charset="-120"/>
                        </a:rPr>
                        <a:t>Risk</a:t>
                      </a:r>
                      <a:endParaRPr lang="en-US" sz="108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080" b="1" dirty="0">
                          <a:solidFill>
                            <a:srgbClr val="FFFFFF"/>
                          </a:solidFill>
                          <a:latin typeface="Calibri" pitchFamily="34" charset="0"/>
                          <a:ea typeface="Calibri" pitchFamily="34" charset="-122"/>
                          <a:cs typeface="Calibri" pitchFamily="34" charset="-120"/>
                        </a:rPr>
                        <a:t>Where it could occur</a:t>
                      </a:r>
                      <a:endParaRPr lang="en-US" sz="108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080" b="1" dirty="0">
                          <a:solidFill>
                            <a:srgbClr val="FFFFFF"/>
                          </a:solidFill>
                          <a:latin typeface="Calibri" pitchFamily="34" charset="0"/>
                          <a:ea typeface="Calibri" pitchFamily="34" charset="-122"/>
                          <a:cs typeface="Calibri" pitchFamily="34" charset="-120"/>
                        </a:rPr>
                        <a:t>How it is handled</a:t>
                      </a:r>
                      <a:endParaRPr lang="en-US" sz="108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r>
              <a:tr h="561703">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Same day or future weather in a feature</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Weather joins</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Shift by min_lag before computing. check_no_leak() re derives a sampled value from raw data</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561703">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Other provinces' current or future prices</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Cross province features</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Shift by MIN_LAG. A value assertion plus a perturbation test</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561703">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Rolling windows centred on t</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All weather and price windows</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All windows trailing only. A global perturbation test scrambles post cutoff prices and requires nothing earlier changes</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561703">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Training labels whose target lies inside the validation window</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CV folds</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Purge. Train only on rows with target_date less than validation start</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561703">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Shuffled K fold on autocorrelated rows</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CV</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Chronological expanding window only. The shuffled K fold leak is quantified, not just avoided (slide 7)</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561703">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Test data shaping feature or model choice</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EDA, features, tuning</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80" dirty="0">
                          <a:solidFill>
                            <a:srgbClr val="1F2A30"/>
                          </a:solidFill>
                          <a:latin typeface="Calibri" pitchFamily="34" charset="0"/>
                          <a:ea typeface="Calibri" pitchFamily="34" charset="-122"/>
                          <a:cs typeface="Calibri" pitchFamily="34" charset="-120"/>
                        </a:rPr>
                        <a:t>Test year locked before any feature informing EDA. Tuning and feature selection use CV folds only</a:t>
                      </a:r>
                      <a:endParaRPr lang="en-US" sz="108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60120"/>
          </a:xfrm>
          <a:prstGeom prst="rect">
            <a:avLst/>
          </a:prstGeom>
          <a:noFill/>
          <a:ln/>
        </p:spPr>
        <p:txBody>
          <a:bodyPr wrap="square" lIns="0" tIns="0" rIns="0" bIns="0" rtlCol="0" anchor="t"/>
          <a:lstStyle/>
          <a:p>
            <a:pPr algn="l" indent="0" marL="0">
              <a:buNone/>
            </a:pPr>
            <a:r>
              <a:rPr lang="en-US" sz="2500" b="1" dirty="0">
                <a:solidFill>
                  <a:srgbClr val="1F2A30"/>
                </a:solidFill>
                <a:latin typeface="Cambria" pitchFamily="34" charset="0"/>
                <a:ea typeface="Cambria" pitchFamily="34" charset="-122"/>
                <a:cs typeface="Cambria" pitchFamily="34" charset="-120"/>
              </a:rPr>
              <a:t>Validation design: the test year never shapes anything upstream of it</a:t>
            </a:r>
            <a:endParaRPr lang="en-US" sz="2500" dirty="0"/>
          </a:p>
        </p:txBody>
      </p:sp>
      <p:sp>
        <p:nvSpPr>
          <p:cNvPr id="3" name="Shape 1"/>
          <p:cNvSpPr/>
          <p:nvPr/>
        </p:nvSpPr>
        <p:spPr>
          <a:xfrm>
            <a:off x="548640" y="1417320"/>
            <a:ext cx="3514344" cy="1600200"/>
          </a:xfrm>
          <a:prstGeom prst="rect">
            <a:avLst/>
          </a:prstGeom>
          <a:solidFill>
            <a:srgbClr val="F2F4F5"/>
          </a:solidFill>
          <a:ln/>
        </p:spPr>
      </p:sp>
      <p:sp>
        <p:nvSpPr>
          <p:cNvPr id="4" name="Shape 2"/>
          <p:cNvSpPr/>
          <p:nvPr/>
        </p:nvSpPr>
        <p:spPr>
          <a:xfrm>
            <a:off x="749808" y="1618488"/>
            <a:ext cx="365760" cy="365760"/>
          </a:xfrm>
          <a:prstGeom prst="ellipse">
            <a:avLst/>
          </a:prstGeom>
          <a:solidFill>
            <a:srgbClr val="B83227"/>
          </a:solidFill>
          <a:ln/>
        </p:spPr>
      </p:sp>
      <p:sp>
        <p:nvSpPr>
          <p:cNvPr id="5" name="Text 3"/>
          <p:cNvSpPr txBox="1"/>
          <p:nvPr/>
        </p:nvSpPr>
        <p:spPr>
          <a:xfrm>
            <a:off x="749808" y="16184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749808" y="2103120"/>
            <a:ext cx="3112008" cy="502920"/>
          </a:xfrm>
          <a:prstGeom prst="rect">
            <a:avLst/>
          </a:prstGeom>
          <a:noFill/>
          <a:ln/>
        </p:spPr>
        <p:txBody>
          <a:bodyPr wrap="square" lIns="0" tIns="0" rIns="0" bIns="0" rtlCol="0" anchor="t"/>
          <a:lstStyle/>
          <a:p>
            <a:pPr algn="l" indent="0" marL="0">
              <a:buNone/>
            </a:pPr>
            <a:r>
              <a:rPr lang="en-US" sz="1400" b="1" dirty="0">
                <a:solidFill>
                  <a:srgbClr val="1F2A30"/>
                </a:solidFill>
                <a:latin typeface="Calibri" pitchFamily="34" charset="0"/>
                <a:ea typeface="Calibri" pitchFamily="34" charset="-122"/>
                <a:cs typeface="Calibri" pitchFamily="34" charset="-120"/>
              </a:rPr>
              <a:t>Lock the test</a:t>
            </a:r>
            <a:endParaRPr lang="en-US" sz="1400" dirty="0"/>
          </a:p>
        </p:txBody>
      </p:sp>
      <p:sp>
        <p:nvSpPr>
          <p:cNvPr id="7" name="Text 5"/>
          <p:cNvSpPr txBox="1"/>
          <p:nvPr/>
        </p:nvSpPr>
        <p:spPr>
          <a:xfrm>
            <a:off x="749808" y="2606040"/>
            <a:ext cx="3112008" cy="228600"/>
          </a:xfrm>
          <a:prstGeom prst="rect">
            <a:avLst/>
          </a:prstGeom>
          <a:noFill/>
          <a:ln/>
        </p:spPr>
        <p:txBody>
          <a:bodyPr wrap="square" lIns="0" tIns="0" rIns="0" bIns="0" rtlCol="0" anchor="t"/>
          <a:lstStyle/>
          <a:p>
            <a:pPr algn="l" indent="0" marL="0">
              <a:buNone/>
            </a:pPr>
            <a:r>
              <a:rPr lang="en-US" sz="1150" dirty="0">
                <a:solidFill>
                  <a:srgbClr val="5B6770"/>
                </a:solidFill>
                <a:latin typeface="Calibri" pitchFamily="34" charset="0"/>
                <a:ea typeface="Calibri" pitchFamily="34" charset="-122"/>
                <a:cs typeface="Calibri" pitchFamily="34" charset="-120"/>
              </a:rPr>
              <a:t>Oct 2025 to Oct 2026 (about 250 origins) fixed before any exploration that could have shaped features.</a:t>
            </a:r>
            <a:endParaRPr lang="en-US" sz="1150" dirty="0"/>
          </a:p>
        </p:txBody>
      </p:sp>
      <p:sp>
        <p:nvSpPr>
          <p:cNvPr id="8" name="Shape 6"/>
          <p:cNvSpPr/>
          <p:nvPr/>
        </p:nvSpPr>
        <p:spPr>
          <a:xfrm>
            <a:off x="4337304" y="1417320"/>
            <a:ext cx="3514344" cy="1600200"/>
          </a:xfrm>
          <a:prstGeom prst="rect">
            <a:avLst/>
          </a:prstGeom>
          <a:solidFill>
            <a:srgbClr val="F2F4F5"/>
          </a:solidFill>
          <a:ln/>
        </p:spPr>
      </p:sp>
      <p:sp>
        <p:nvSpPr>
          <p:cNvPr id="9" name="Shape 7"/>
          <p:cNvSpPr/>
          <p:nvPr/>
        </p:nvSpPr>
        <p:spPr>
          <a:xfrm>
            <a:off x="4538472" y="1618488"/>
            <a:ext cx="365760" cy="365760"/>
          </a:xfrm>
          <a:prstGeom prst="ellipse">
            <a:avLst/>
          </a:prstGeom>
          <a:solidFill>
            <a:srgbClr val="B83227"/>
          </a:solidFill>
          <a:ln/>
        </p:spPr>
      </p:sp>
      <p:sp>
        <p:nvSpPr>
          <p:cNvPr id="10" name="Text 8"/>
          <p:cNvSpPr txBox="1"/>
          <p:nvPr/>
        </p:nvSpPr>
        <p:spPr>
          <a:xfrm>
            <a:off x="4538472" y="16184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4538472" y="2103120"/>
            <a:ext cx="3112008" cy="502920"/>
          </a:xfrm>
          <a:prstGeom prst="rect">
            <a:avLst/>
          </a:prstGeom>
          <a:noFill/>
          <a:ln/>
        </p:spPr>
        <p:txBody>
          <a:bodyPr wrap="square" lIns="0" tIns="0" rIns="0" bIns="0" rtlCol="0" anchor="t"/>
          <a:lstStyle/>
          <a:p>
            <a:pPr algn="l" indent="0" marL="0">
              <a:buNone/>
            </a:pPr>
            <a:r>
              <a:rPr lang="en-US" sz="1400" b="1" dirty="0">
                <a:solidFill>
                  <a:srgbClr val="1F2A30"/>
                </a:solidFill>
                <a:latin typeface="Calibri" pitchFamily="34" charset="0"/>
                <a:ea typeface="Calibri" pitchFamily="34" charset="-122"/>
                <a:cs typeface="Calibri" pitchFamily="34" charset="-120"/>
              </a:rPr>
              <a:t>Tune on development folds</a:t>
            </a:r>
            <a:endParaRPr lang="en-US" sz="1400" dirty="0"/>
          </a:p>
        </p:txBody>
      </p:sp>
      <p:sp>
        <p:nvSpPr>
          <p:cNvPr id="12" name="Text 10"/>
          <p:cNvSpPr txBox="1"/>
          <p:nvPr/>
        </p:nvSpPr>
        <p:spPr>
          <a:xfrm>
            <a:off x="4538472" y="2606040"/>
            <a:ext cx="3112008" cy="228600"/>
          </a:xfrm>
          <a:prstGeom prst="rect">
            <a:avLst/>
          </a:prstGeom>
          <a:noFill/>
          <a:ln/>
        </p:spPr>
        <p:txBody>
          <a:bodyPr wrap="square" lIns="0" tIns="0" rIns="0" bIns="0" rtlCol="0" anchor="t"/>
          <a:lstStyle/>
          <a:p>
            <a:pPr algn="l" indent="0" marL="0">
              <a:buNone/>
            </a:pPr>
            <a:r>
              <a:rPr lang="en-US" sz="1150" dirty="0">
                <a:solidFill>
                  <a:srgbClr val="5B6770"/>
                </a:solidFill>
                <a:latin typeface="Calibri" pitchFamily="34" charset="0"/>
                <a:ea typeface="Calibri" pitchFamily="34" charset="-122"/>
                <a:cs typeface="Calibri" pitchFamily="34" charset="-120"/>
              </a:rPr>
              <a:t>5 expanding window folds, 6 months each, with a 7 day purge gap so no training label sees into its own validation block.</a:t>
            </a:r>
            <a:endParaRPr lang="en-US" sz="1150" dirty="0"/>
          </a:p>
        </p:txBody>
      </p:sp>
      <p:sp>
        <p:nvSpPr>
          <p:cNvPr id="13" name="Shape 11"/>
          <p:cNvSpPr/>
          <p:nvPr/>
        </p:nvSpPr>
        <p:spPr>
          <a:xfrm>
            <a:off x="8125968" y="1417320"/>
            <a:ext cx="3514344" cy="1600200"/>
          </a:xfrm>
          <a:prstGeom prst="rect">
            <a:avLst/>
          </a:prstGeom>
          <a:solidFill>
            <a:srgbClr val="F2F4F5"/>
          </a:solidFill>
          <a:ln/>
        </p:spPr>
      </p:sp>
      <p:sp>
        <p:nvSpPr>
          <p:cNvPr id="14" name="Shape 12"/>
          <p:cNvSpPr/>
          <p:nvPr/>
        </p:nvSpPr>
        <p:spPr>
          <a:xfrm>
            <a:off x="8327136" y="1618488"/>
            <a:ext cx="365760" cy="365760"/>
          </a:xfrm>
          <a:prstGeom prst="ellipse">
            <a:avLst/>
          </a:prstGeom>
          <a:solidFill>
            <a:srgbClr val="B83227"/>
          </a:solidFill>
          <a:ln/>
        </p:spPr>
      </p:sp>
      <p:sp>
        <p:nvSpPr>
          <p:cNvPr id="15" name="Text 13"/>
          <p:cNvSpPr txBox="1"/>
          <p:nvPr/>
        </p:nvSpPr>
        <p:spPr>
          <a:xfrm>
            <a:off x="8327136" y="16184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8327136" y="2103120"/>
            <a:ext cx="3112008" cy="502920"/>
          </a:xfrm>
          <a:prstGeom prst="rect">
            <a:avLst/>
          </a:prstGeom>
          <a:noFill/>
          <a:ln/>
        </p:spPr>
        <p:txBody>
          <a:bodyPr wrap="square" lIns="0" tIns="0" rIns="0" bIns="0" rtlCol="0" anchor="t"/>
          <a:lstStyle/>
          <a:p>
            <a:pPr algn="l" indent="0" marL="0">
              <a:buNone/>
            </a:pPr>
            <a:r>
              <a:rPr lang="en-US" sz="1400" b="1" dirty="0">
                <a:solidFill>
                  <a:srgbClr val="1F2A30"/>
                </a:solidFill>
                <a:latin typeface="Calibri" pitchFamily="34" charset="0"/>
                <a:ea typeface="Calibri" pitchFamily="34" charset="-122"/>
                <a:cs typeface="Calibri" pitchFamily="34" charset="-120"/>
              </a:rPr>
              <a:t>Score once</a:t>
            </a:r>
            <a:endParaRPr lang="en-US" sz="1400" dirty="0"/>
          </a:p>
        </p:txBody>
      </p:sp>
      <p:sp>
        <p:nvSpPr>
          <p:cNvPr id="17" name="Text 15"/>
          <p:cNvSpPr txBox="1"/>
          <p:nvPr/>
        </p:nvSpPr>
        <p:spPr>
          <a:xfrm>
            <a:off x="8327136" y="2606040"/>
            <a:ext cx="3112008" cy="228600"/>
          </a:xfrm>
          <a:prstGeom prst="rect">
            <a:avLst/>
          </a:prstGeom>
          <a:noFill/>
          <a:ln/>
        </p:spPr>
        <p:txBody>
          <a:bodyPr wrap="square" lIns="0" tIns="0" rIns="0" bIns="0" rtlCol="0" anchor="t"/>
          <a:lstStyle/>
          <a:p>
            <a:pPr algn="l" indent="0" marL="0">
              <a:buNone/>
            </a:pPr>
            <a:r>
              <a:rPr lang="en-US" sz="1150" dirty="0">
                <a:solidFill>
                  <a:srgbClr val="5B6770"/>
                </a:solidFill>
                <a:latin typeface="Calibri" pitchFamily="34" charset="0"/>
                <a:ea typeface="Calibri" pitchFamily="34" charset="-122"/>
                <a:cs typeface="Calibri" pitchFamily="34" charset="-120"/>
              </a:rPr>
              <a:t>Every candidate is refit on all development data and scored on the test year exactly once.</a:t>
            </a:r>
            <a:endParaRPr lang="en-US" sz="1150" dirty="0"/>
          </a:p>
        </p:txBody>
      </p:sp>
      <p:pic>
        <p:nvPicPr>
          <p:cNvPr id="18" name="Image 0" descr="/home/virtuozs/college/Predictive-Analysis/UAS/pihps-cabai-rawit-forecast/presentation/draft_pitch/charts/fold_diagram.png">    </p:cNvPr>
          <p:cNvPicPr>
            <a:picLocks noChangeAspect="1"/>
          </p:cNvPicPr>
          <p:nvPr/>
        </p:nvPicPr>
        <p:blipFill>
          <a:blip r:embed="rId1"/>
          <a:stretch>
            <a:fillRect/>
          </a:stretch>
        </p:blipFill>
        <p:spPr>
          <a:xfrm>
            <a:off x="548640" y="3200400"/>
            <a:ext cx="11091672" cy="2154497"/>
          </a:xfrm>
          <a:prstGeom prst="rect">
            <a:avLst/>
          </a:prstGeom>
        </p:spPr>
      </p:pic>
      <p:sp>
        <p:nvSpPr>
          <p:cNvPr id="19" name="Text 16"/>
          <p:cNvSpPr txBox="1"/>
          <p:nvPr/>
        </p:nvSpPr>
        <p:spPr>
          <a:xfrm>
            <a:off x="548640" y="5486400"/>
            <a:ext cx="11091672" cy="1188720"/>
          </a:xfrm>
          <a:prstGeom prst="rect">
            <a:avLst/>
          </a:prstGeom>
          <a:noFill/>
          <a:ln/>
        </p:spPr>
        <p:txBody>
          <a:bodyPr wrap="square" lIns="0" tIns="0" rIns="0" bIns="0" rtlCol="0" anchor="t"/>
          <a:lstStyle/>
          <a:p>
            <a:pPr algn="l" marL="342900" indent="-342900">
              <a:spcAft>
                <a:spcPts val="1000"/>
              </a:spcAft>
              <a:buSzPct val="100000"/>
              <a:buChar char="•"/>
            </a:pPr>
            <a:r>
              <a:rPr lang="en-US" sz="1200" dirty="0">
                <a:solidFill>
                  <a:srgbClr val="1F2A30"/>
                </a:solidFill>
                <a:latin typeface="Calibri" pitchFamily="34" charset="0"/>
                <a:ea typeface="Calibri" pitchFamily="34" charset="-122"/>
                <a:cs typeface="Calibri" pitchFamily="34" charset="-120"/>
              </a:rPr>
              <a:t>Why expanding window, not shuffled K fold: shuffled K fold puts origin t in validation while t minus 1 and t plus 1 sit in training. Given the month long persistence of spikes, those neighbours are near duplicates.</a:t>
            </a:r>
            <a:endParaRPr lang="en-US" sz="1200" dirty="0"/>
          </a:p>
          <a:p>
            <a:pPr algn="l" marL="342900" indent="-342900">
              <a:spcAft>
                <a:spcPts val="1000"/>
              </a:spcAft>
              <a:buSzPct val="100000"/>
              <a:buChar char="•"/>
            </a:pPr>
            <a:r>
              <a:rPr lang="en-US" sz="1200" dirty="0">
                <a:solidFill>
                  <a:srgbClr val="1F2A30"/>
                </a:solidFill>
                <a:latin typeface="Calibri" pitchFamily="34" charset="0"/>
                <a:ea typeface="Calibri" pitchFamily="34" charset="-122"/>
                <a:cs typeface="Calibri" pitchFamily="34" charset="-120"/>
              </a:rPr>
              <a:t>Quantified, not asserted: the same default LightGBM model, same features, scored with shuffled 5 fold K fold on the development period reports less than half the honest chronological error.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60120"/>
          </a:xfrm>
          <a:prstGeom prst="rect">
            <a:avLst/>
          </a:prstGeom>
          <a:noFill/>
          <a:ln/>
        </p:spPr>
        <p:txBody>
          <a:bodyPr wrap="square" lIns="0" tIns="0" rIns="0" bIns="0" rtlCol="0" anchor="t"/>
          <a:lstStyle/>
          <a:p>
            <a:pPr algn="l" indent="0" marL="0">
              <a:buNone/>
            </a:pPr>
            <a:r>
              <a:rPr lang="en-US" sz="2500" b="1" dirty="0">
                <a:solidFill>
                  <a:srgbClr val="1F2A30"/>
                </a:solidFill>
                <a:latin typeface="Cambria" pitchFamily="34" charset="0"/>
                <a:ea typeface="Cambria" pitchFamily="34" charset="-122"/>
                <a:cs typeface="Cambria" pitchFamily="34" charset="-120"/>
              </a:rPr>
              <a:t>Eight feature groups, each with its own stated leak safety argument</a:t>
            </a:r>
            <a:endParaRPr lang="en-US" sz="2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4114800"/>
        </p:xfrm>
        <a:graphic>
          <a:graphicData uri="http://schemas.openxmlformats.org/drawingml/2006/table">
            <a:tbl>
              <a:tblPr/>
              <a:tblGrid>
                <a:gridCol w="3730752"/>
                <a:gridCol w="2084832"/>
                <a:gridCol w="5157216"/>
              </a:tblGrid>
              <a:tr h="457200">
                <a:tc>
                  <a:txBody>
                    <a:bodyPr/>
                    <a:lstStyle/>
                    <a:p>
                      <a:pPr indent="0" marL="0">
                        <a:buNone/>
                      </a:pPr>
                      <a:r>
                        <a:rPr lang="en-US" sz="1030" b="1" dirty="0">
                          <a:solidFill>
                            <a:srgbClr val="FFFFFF"/>
                          </a:solidFill>
                          <a:latin typeface="Calibri" pitchFamily="34" charset="0"/>
                          <a:ea typeface="Calibri" pitchFamily="34" charset="-122"/>
                          <a:cs typeface="Calibri" pitchFamily="34" charset="-120"/>
                        </a:rPr>
                        <a:t>Group</a:t>
                      </a:r>
                      <a:endParaRPr lang="en-US" sz="103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030" b="1" dirty="0">
                          <a:solidFill>
                            <a:srgbClr val="FFFFFF"/>
                          </a:solidFill>
                          <a:latin typeface="Calibri" pitchFamily="34" charset="0"/>
                          <a:ea typeface="Calibri" pitchFamily="34" charset="-122"/>
                          <a:cs typeface="Calibri" pitchFamily="34" charset="-120"/>
                        </a:rPr>
                        <a:t>Information time</a:t>
                      </a:r>
                      <a:endParaRPr lang="en-US" sz="103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030" b="1" dirty="0">
                          <a:solidFill>
                            <a:srgbClr val="FFFFFF"/>
                          </a:solidFill>
                          <a:latin typeface="Calibri" pitchFamily="34" charset="0"/>
                          <a:ea typeface="Calibri" pitchFamily="34" charset="-122"/>
                          <a:cs typeface="Calibri" pitchFamily="34" charset="-120"/>
                        </a:rPr>
                        <a:t>Leak safety argument</a:t>
                      </a:r>
                      <a:endParaRPr lang="en-US" sz="103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r>
              <a:tr h="457200">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own: own price</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up to t</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PIHPS day t price publishes on day t. Forward fill uses only past values</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457200">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prov: province indicator</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static</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Fixed category set, nothing estimated</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457200">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xprov: cross province and national</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up to t minus MIN_LAG</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Shift first, then compute. Value assertion plus perturbation test</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457200">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wx_base: rain, temperature, humidity</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up to t minus 1</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Built and asserted directly in fetch_weather.py</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457200">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wx_ext: data driven lagged rain windows</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up to t minus MIN_LAG minus L</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Calendar day rolling then shift(MIN_LAG + L). Own assertion</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457200">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wx_extra: radiation and ET0 (experimental)</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up to t minus 1</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Same panel construction as wx_base. Re derived and re checked</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457200">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cal: calendar and holidays</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deterministic</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Known in advance. Not measured or reported data, so using t plus 7 properties leaks nothing</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457200">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solar: Solar (BBM) price (experimental)</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up to t</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30" dirty="0">
                          <a:solidFill>
                            <a:srgbClr val="1F2A30"/>
                          </a:solidFill>
                          <a:latin typeface="Calibri" pitchFamily="34" charset="0"/>
                          <a:ea typeface="Calibri" pitchFamily="34" charset="-122"/>
                          <a:cs typeface="Calibri" pitchFamily="34" charset="-120"/>
                        </a:rPr>
                        <a:t>Administratively announced, effective same day. Leak safe as of join</a:t>
                      </a:r>
                      <a:endParaRPr lang="en-US" sz="10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60120"/>
          </a:xfrm>
          <a:prstGeom prst="rect">
            <a:avLst/>
          </a:prstGeom>
          <a:noFill/>
          <a:ln/>
        </p:spPr>
        <p:txBody>
          <a:bodyPr wrap="square" lIns="0" tIns="0" rIns="0" bIns="0" rtlCol="0" anchor="t"/>
          <a:lstStyle/>
          <a:p>
            <a:pPr algn="l" indent="0" marL="0">
              <a:buNone/>
            </a:pPr>
            <a:r>
              <a:rPr lang="en-US" sz="2500" b="1" dirty="0">
                <a:solidFill>
                  <a:srgbClr val="1F2A30"/>
                </a:solidFill>
                <a:latin typeface="Cambria" pitchFamily="34" charset="0"/>
                <a:ea typeface="Cambria" pitchFamily="34" charset="-122"/>
                <a:cs typeface="Cambria" pitchFamily="34" charset="-120"/>
              </a:rPr>
              <a:t>EDA findings that directly changed the feature set</a:t>
            </a:r>
            <a:endParaRPr lang="en-US" sz="2500" dirty="0"/>
          </a:p>
        </p:txBody>
      </p:sp>
      <p:pic>
        <p:nvPicPr>
          <p:cNvPr id="3" name="Image 0" descr="/home/virtuozs/college/Predictive-Analysis/UAS/pihps-cabai-rawit-forecast/presentation/draft_pitch/charts/event_study.png">    </p:cNvPr>
          <p:cNvPicPr>
            <a:picLocks noChangeAspect="1"/>
          </p:cNvPicPr>
          <p:nvPr/>
        </p:nvPicPr>
        <p:blipFill>
          <a:blip r:embed="rId1"/>
          <a:stretch>
            <a:fillRect/>
          </a:stretch>
        </p:blipFill>
        <p:spPr>
          <a:xfrm>
            <a:off x="548640" y="1417320"/>
            <a:ext cx="11091672" cy="1747637"/>
          </a:xfrm>
          <a:prstGeom prst="rect">
            <a:avLst/>
          </a:prstGeom>
        </p:spPr>
      </p:pic>
      <p:sp>
        <p:nvSpPr>
          <p:cNvPr id="4" name="Text 1"/>
          <p:cNvSpPr txBox="1"/>
          <p:nvPr/>
        </p:nvSpPr>
        <p:spPr>
          <a:xfrm>
            <a:off x="548640" y="3201533"/>
            <a:ext cx="11091672" cy="274320"/>
          </a:xfrm>
          <a:prstGeom prst="rect">
            <a:avLst/>
          </a:prstGeom>
          <a:noFill/>
          <a:ln/>
        </p:spPr>
        <p:txBody>
          <a:bodyPr wrap="square" lIns="0" tIns="0" rIns="0" bIns="0" rtlCol="0" anchor="ctr"/>
          <a:lstStyle/>
          <a:p>
            <a:pPr algn="ctr" indent="0" marL="0">
              <a:buNone/>
            </a:pPr>
            <a:r>
              <a:rPr lang="en-US" sz="1050" i="1" dirty="0">
                <a:solidFill>
                  <a:srgbClr val="5B6770"/>
                </a:solidFill>
                <a:latin typeface="Calibri" pitchFamily="34" charset="0"/>
                <a:ea typeface="Calibri" pitchFamily="34" charset="-122"/>
                <a:cs typeface="Calibri" pitchFamily="34" charset="-120"/>
              </a:rPr>
              <a:t>Median log price path around each event, relative to 30 working days before. Shaded band is the interquartile range.</a:t>
            </a:r>
            <a:endParaRPr lang="en-US" sz="1050" dirty="0"/>
          </a:p>
        </p:txBody>
      </p:sp>
      <p:sp>
        <p:nvSpPr>
          <p:cNvPr id="5" name="Text 2"/>
          <p:cNvSpPr txBox="1"/>
          <p:nvPr/>
        </p:nvSpPr>
        <p:spPr>
          <a:xfrm>
            <a:off x="548640" y="4160520"/>
            <a:ext cx="11091672" cy="2103120"/>
          </a:xfrm>
          <a:prstGeom prst="rect">
            <a:avLst/>
          </a:prstGeom>
          <a:noFill/>
          <a:ln/>
        </p:spPr>
        <p:txBody>
          <a:bodyPr wrap="square" lIns="0" tIns="0" rIns="0" bIns="0" rtlCol="0" anchor="t"/>
          <a:lstStyle/>
          <a:p>
            <a:pPr algn="l" marL="342900" indent="-342900">
              <a:spcAft>
                <a:spcPts val="1000"/>
              </a:spcAft>
              <a:buSzPct val="100000"/>
              <a:buChar char="•"/>
            </a:pPr>
            <a:r>
              <a:rPr lang="en-US" sz="1250" dirty="0">
                <a:solidFill>
                  <a:srgbClr val="1F2A30"/>
                </a:solidFill>
                <a:latin typeface="Calibri" pitchFamily="34" charset="0"/>
                <a:ea typeface="Calibri" pitchFamily="34" charset="-122"/>
                <a:cs typeface="Calibri" pitchFamily="34" charset="-120"/>
              </a:rPr>
              <a:t>No conventional pre Lebaran surge, 2017 to 2025: prices typically lower, not higher, before Idul Fitri. The real spike is around Christmas, the rainy season onset.</a:t>
            </a:r>
            <a:endParaRPr lang="en-US" sz="1250" dirty="0"/>
          </a:p>
          <a:p>
            <a:pPr algn="l" marL="342900" indent="-342900">
              <a:spcAft>
                <a:spcPts val="1000"/>
              </a:spcAft>
              <a:buSzPct val="100000"/>
              <a:buChar char="•"/>
            </a:pPr>
            <a:r>
              <a:rPr lang="en-US" sz="1250" dirty="0">
                <a:solidFill>
                  <a:srgbClr val="1F2A30"/>
                </a:solidFill>
                <a:latin typeface="Calibri" pitchFamily="34" charset="0"/>
                <a:ea typeface="Calibri" pitchFamily="34" charset="-122"/>
                <a:cs typeface="Calibri" pitchFamily="34" charset="-120"/>
              </a:rPr>
              <a:t>Jawa Timur leads every other province: its 5 day change is the single best predictor of 5 of 6 provinces' next week move. Confirmed the cross province feature group, later the most valuable group in the ablation.</a:t>
            </a:r>
            <a:endParaRPr lang="en-US" sz="1250" dirty="0"/>
          </a:p>
          <a:p>
            <a:pPr algn="l" marL="342900" indent="-342900">
              <a:spcAft>
                <a:spcPts val="1000"/>
              </a:spcAft>
              <a:buSzPct val="100000"/>
              <a:buChar char="•"/>
            </a:pPr>
            <a:r>
              <a:rPr lang="en-US" sz="1250" dirty="0">
                <a:solidFill>
                  <a:srgbClr val="1F2A30"/>
                </a:solidFill>
                <a:latin typeface="Calibri" pitchFamily="34" charset="0"/>
                <a:ea typeface="Calibri" pitchFamily="34" charset="-122"/>
                <a:cs typeface="Calibri" pitchFamily="34" charset="-120"/>
              </a:rPr>
              <a:t>Fixed weather windows miss some signal: a programmatic scan found cells the default windows do not cover. Added data driven lagged rain windows, kept by the ablation.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A30"/>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457200"/>
          </a:xfrm>
          <a:prstGeom prst="rect">
            <a:avLst/>
          </a:prstGeom>
          <a:noFill/>
          <a:ln/>
        </p:spPr>
        <p:txBody>
          <a:bodyPr wrap="square" lIns="0" tIns="0" rIns="0" bIns="0" rtlCol="0" anchor="ctr"/>
          <a:lstStyle/>
          <a:p>
            <a:pPr algn="l" indent="0" marL="0">
              <a:buNone/>
            </a:pPr>
            <a:r>
              <a:rPr lang="en-US" sz="1400" b="1" spc="200" kern="0" dirty="0">
                <a:solidFill>
                  <a:srgbClr val="B83227"/>
                </a:solidFill>
                <a:latin typeface="Calibri" pitchFamily="34" charset="0"/>
                <a:ea typeface="Calibri" pitchFamily="34" charset="-122"/>
                <a:cs typeface="Calibri" pitchFamily="34" charset="-120"/>
              </a:rPr>
              <a:t>MODELS</a:t>
            </a:r>
            <a:endParaRPr lang="en-US" sz="1400" dirty="0"/>
          </a:p>
        </p:txBody>
      </p:sp>
      <p:sp>
        <p:nvSpPr>
          <p:cNvPr id="3" name="Text 1"/>
          <p:cNvSpPr txBox="1"/>
          <p:nvPr/>
        </p:nvSpPr>
        <p:spPr>
          <a:xfrm>
            <a:off x="548640" y="3200400"/>
            <a:ext cx="11091672" cy="14630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Five candidate families, evaluated the same way</a:t>
            </a:r>
            <a:endParaRPr lang="en-US" sz="3400" dirty="0"/>
          </a:p>
        </p:txBody>
      </p:sp>
      <p:sp>
        <p:nvSpPr>
          <p:cNvPr id="4" name="Text 2"/>
          <p:cNvSpPr txBox="1"/>
          <p:nvPr/>
        </p:nvSpPr>
        <p:spPr>
          <a:xfrm>
            <a:off x="548640" y="4572000"/>
            <a:ext cx="11091672" cy="457200"/>
          </a:xfrm>
          <a:prstGeom prst="rect">
            <a:avLst/>
          </a:prstGeom>
          <a:noFill/>
          <a:ln/>
        </p:spPr>
        <p:txBody>
          <a:bodyPr wrap="square" lIns="0" tIns="0" rIns="0" bIns="0" rtlCol="0" anchor="ctr"/>
          <a:lstStyle/>
          <a:p>
            <a:pPr algn="l" indent="0" marL="0">
              <a:buNone/>
            </a:pPr>
            <a:r>
              <a:rPr lang="en-US" sz="1400" dirty="0">
                <a:solidFill>
                  <a:srgbClr val="F2F4F5"/>
                </a:solidFill>
                <a:latin typeface="Calibri" pitchFamily="34" charset="0"/>
                <a:ea typeface="Calibri" pitchFamily="34" charset="-122"/>
                <a:cs typeface="Calibri" pitchFamily="34" charset="-120"/>
              </a:rPr>
              <a:t>Same folds, same rows, same metric. The comparison is like for like across classical and ML approaches.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60120"/>
          </a:xfrm>
          <a:prstGeom prst="rect">
            <a:avLst/>
          </a:prstGeom>
          <a:noFill/>
          <a:ln/>
        </p:spPr>
        <p:txBody>
          <a:bodyPr wrap="square" lIns="0" tIns="0" rIns="0" bIns="0" rtlCol="0" anchor="t"/>
          <a:lstStyle/>
          <a:p>
            <a:pPr algn="l" indent="0" marL="0">
              <a:buNone/>
            </a:pPr>
            <a:r>
              <a:rPr lang="en-US" sz="2500" b="1" dirty="0">
                <a:solidFill>
                  <a:srgbClr val="1F2A30"/>
                </a:solidFill>
                <a:latin typeface="Cambria" pitchFamily="34" charset="0"/>
                <a:ea typeface="Cambria" pitchFamily="34" charset="-122"/>
                <a:cs typeface="Cambria" pitchFamily="34" charset="-120"/>
              </a:rPr>
              <a:t>Two honest baselines, five candidate model families</a:t>
            </a:r>
            <a:endParaRPr lang="en-US" sz="2500" dirty="0"/>
          </a:p>
        </p:txBody>
      </p:sp>
      <p:pic>
        <p:nvPicPr>
          <p:cNvPr id="3" name="Image 0" descr="/home/virtuozs/college/Predictive-Analysis/UAS/pihps-cabai-rawit-forecast/presentation/draft_pitch/charts/fold_mape.png">    </p:cNvPr>
          <p:cNvPicPr>
            <a:picLocks noChangeAspect="1"/>
          </p:cNvPicPr>
          <p:nvPr/>
        </p:nvPicPr>
        <p:blipFill>
          <a:blip r:embed="rId1"/>
          <a:stretch>
            <a:fillRect/>
          </a:stretch>
        </p:blipFill>
        <p:spPr>
          <a:xfrm>
            <a:off x="548640" y="1371600"/>
            <a:ext cx="5852160" cy="1666754"/>
          </a:xfrm>
          <a:prstGeom prst="rect">
            <a:avLst/>
          </a:prstGeom>
        </p:spPr>
      </p:pic>
      <p:sp>
        <p:nvSpPr>
          <p:cNvPr id="4" name="Text 1"/>
          <p:cNvSpPr txBox="1"/>
          <p:nvPr/>
        </p:nvSpPr>
        <p:spPr>
          <a:xfrm>
            <a:off x="548640" y="3074930"/>
            <a:ext cx="5852160" cy="274320"/>
          </a:xfrm>
          <a:prstGeom prst="rect">
            <a:avLst/>
          </a:prstGeom>
          <a:noFill/>
          <a:ln/>
        </p:spPr>
        <p:txBody>
          <a:bodyPr wrap="square" lIns="0" tIns="0" rIns="0" bIns="0" rtlCol="0" anchor="ctr"/>
          <a:lstStyle/>
          <a:p>
            <a:pPr algn="ctr" indent="0" marL="0">
              <a:buNone/>
            </a:pPr>
            <a:r>
              <a:rPr lang="en-US" sz="1050" i="1" dirty="0">
                <a:solidFill>
                  <a:srgbClr val="5B6770"/>
                </a:solidFill>
                <a:latin typeface="Calibri" pitchFamily="34" charset="0"/>
                <a:ea typeface="Calibri" pitchFamily="34" charset="-122"/>
                <a:cs typeface="Calibri" pitchFamily="34" charset="-120"/>
              </a:rPr>
              <a:t>Macro MAPE per CV fold, five candidate families plus naive</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75120" y="1371600"/>
          <a:ext cx="4965192" cy="4206240"/>
        </p:xfrm>
        <a:graphic>
          <a:graphicData uri="http://schemas.openxmlformats.org/drawingml/2006/table">
            <a:tbl>
              <a:tblPr/>
              <a:tblGrid>
                <a:gridCol w="1517904"/>
                <a:gridCol w="1600200"/>
                <a:gridCol w="1719072"/>
              </a:tblGrid>
              <a:tr h="600891">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Model</a:t>
                      </a:r>
                      <a:endParaRPr lang="en-US" sz="93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Family</a:t>
                      </a:r>
                      <a:endParaRPr lang="en-US" sz="93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930" b="1" dirty="0">
                          <a:solidFill>
                            <a:srgbClr val="FFFFFF"/>
                          </a:solidFill>
                          <a:latin typeface="Calibri" pitchFamily="34" charset="0"/>
                          <a:ea typeface="Calibri" pitchFamily="34" charset="-122"/>
                          <a:cs typeface="Calibri" pitchFamily="34" charset="-120"/>
                        </a:rPr>
                        <a:t>Why it is in the lineup</a:t>
                      </a:r>
                      <a:endParaRPr lang="en-US" sz="93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r>
              <a:tr h="600891">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Naive (persistence)</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Baseline</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Price in 7 working days equals today's price. CV MAPE 16.6 percent, the bar every candidate must clear.</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600891">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ETS, Holt damped trend</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Exponential smoothing, per province</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Classical benchmark for a persistent series with a drifting level</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600891">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ARIMA(1,1,1)</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Box Jenkins state space, per province</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Short AR/MA structure justified by the PACF. d is tuned, not assumed</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600891">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Ridge regression</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Linear, global, engineered features</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Tests whether a linear combination of features is enough</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600891">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Random Forest</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Bagged trees, global, engineered features</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Non linear, robust to outliers and irrelevant features</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600891">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LightGBM</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Gradient boosted trees, global, engineered features</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930" dirty="0">
                          <a:solidFill>
                            <a:srgbClr val="1F2A30"/>
                          </a:solidFill>
                          <a:latin typeface="Calibri" pitchFamily="34" charset="0"/>
                          <a:ea typeface="Calibri" pitchFamily="34" charset="-122"/>
                          <a:cs typeface="Calibri" pitchFamily="34" charset="-120"/>
                        </a:rPr>
                        <a:t>Usually the strongest learner on tabular lag features</a:t>
                      </a:r>
                      <a:endParaRPr lang="en-US" sz="93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60120"/>
          </a:xfrm>
          <a:prstGeom prst="rect">
            <a:avLst/>
          </a:prstGeom>
          <a:noFill/>
          <a:ln/>
        </p:spPr>
        <p:txBody>
          <a:bodyPr wrap="square" lIns="0" tIns="0" rIns="0" bIns="0" rtlCol="0" anchor="t"/>
          <a:lstStyle/>
          <a:p>
            <a:pPr algn="l" indent="0" marL="0">
              <a:buNone/>
            </a:pPr>
            <a:r>
              <a:rPr lang="en-US" sz="2500" b="1" dirty="0">
                <a:solidFill>
                  <a:srgbClr val="1F2A30"/>
                </a:solidFill>
                <a:latin typeface="Cambria" pitchFamily="34" charset="0"/>
                <a:ea typeface="Cambria" pitchFamily="34" charset="-122"/>
                <a:cs typeface="Cambria" pitchFamily="34" charset="-120"/>
              </a:rPr>
              <a:t>Feature ablation: a mechanical, pre declared keep rule</a:t>
            </a:r>
            <a:endParaRPr lang="en-US" sz="2500" dirty="0"/>
          </a:p>
        </p:txBody>
      </p:sp>
      <p:sp>
        <p:nvSpPr>
          <p:cNvPr id="3" name="Text 1"/>
          <p:cNvSpPr txBox="1"/>
          <p:nvPr/>
        </p:nvSpPr>
        <p:spPr>
          <a:xfrm>
            <a:off x="548640" y="1371600"/>
            <a:ext cx="11091672" cy="457200"/>
          </a:xfrm>
          <a:prstGeom prst="rect">
            <a:avLst/>
          </a:prstGeom>
          <a:noFill/>
          <a:ln/>
        </p:spPr>
        <p:txBody>
          <a:bodyPr wrap="square" lIns="0" tIns="0" rIns="0" bIns="0" rtlCol="0" anchor="ctr"/>
          <a:lstStyle/>
          <a:p>
            <a:pPr algn="l" indent="0" marL="0">
              <a:buNone/>
            </a:pPr>
            <a:r>
              <a:rPr lang="en-US" sz="1300" i="1" dirty="0">
                <a:solidFill>
                  <a:srgbClr val="5B6770"/>
                </a:solidFill>
                <a:latin typeface="Calibri" pitchFamily="34" charset="0"/>
                <a:ea typeface="Calibri" pitchFamily="34" charset="-122"/>
                <a:cs typeface="Calibri" pitchFamily="34" charset="-120"/>
              </a:rPr>
              <a:t>Rule, fixed before results were seen: keep a group if its mean CV gain is greater than 0 and it helps 2 or more of 3 model families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3291840"/>
        </p:xfrm>
        <a:graphic>
          <a:graphicData uri="http://schemas.openxmlformats.org/drawingml/2006/table">
            <a:tbl>
              <a:tblPr/>
              <a:tblGrid>
                <a:gridCol w="3191256"/>
                <a:gridCol w="2185416"/>
                <a:gridCol w="2523744"/>
                <a:gridCol w="3072384"/>
              </a:tblGrid>
              <a:tr h="470263">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Group</a:t>
                      </a:r>
                      <a:endParaRPr lang="en-US" sz="110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Mean CV effect (pp)</a:t>
                      </a:r>
                      <a:endParaRPr lang="en-US" sz="110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Families hurt by removal</a:t>
                      </a:r>
                      <a:endParaRPr lang="en-US" sz="110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r>
              <a:tr h="470263">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xprov, cross province</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+0.74</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3 of 3</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Kept. Most valuable engineered group</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470263">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wx_ext, lagged rain windows</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+0.23</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3 of 3</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Kept</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470263">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wx_base, rain, temp, humidity</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+0.03</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2 of 3</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Kept, narrowly</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470263">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wx_extra, radiation and ET0</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minus 0.12</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1 of 3</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Dropped</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470263">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cal, calendar and holidays</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minus 0.41</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0 of 3</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Dropped. Top prior hypothesis, overturned by evidence</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470263">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solar, Solar (BBM) price</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minus 0.17</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1 of 3</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00" dirty="0">
                          <a:solidFill>
                            <a:srgbClr val="1F2A30"/>
                          </a:solidFill>
                          <a:latin typeface="Calibri" pitchFamily="34" charset="0"/>
                          <a:ea typeface="Calibri" pitchFamily="34" charset="-122"/>
                          <a:cs typeface="Calibri" pitchFamily="34" charset="-120"/>
                        </a:rPr>
                        <a:t>Dropped. Constant throughout CV and test, correlated with time</a:t>
                      </a:r>
                      <a:endParaRPr lang="en-US" sz="11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bl>
          </a:graphicData>
        </a:graphic>
      </p:graphicFrame>
      <p:sp>
        <p:nvSpPr>
          <p:cNvPr id="5" name="Text 2"/>
          <p:cNvSpPr txBox="1"/>
          <p:nvPr/>
        </p:nvSpPr>
        <p:spPr>
          <a:xfrm>
            <a:off x="548640" y="6400800"/>
            <a:ext cx="11091672" cy="320040"/>
          </a:xfrm>
          <a:prstGeom prst="rect">
            <a:avLst/>
          </a:prstGeom>
          <a:noFill/>
          <a:ln/>
        </p:spPr>
        <p:txBody>
          <a:bodyPr wrap="square" lIns="0" tIns="0" rIns="0" bIns="0" rtlCol="0" anchor="ctr"/>
          <a:lstStyle/>
          <a:p>
            <a:pPr algn="l" indent="0" marL="0">
              <a:buNone/>
            </a:pPr>
            <a:r>
              <a:rPr lang="en-US" sz="1000" dirty="0">
                <a:solidFill>
                  <a:srgbClr val="5B6770"/>
                </a:solidFill>
                <a:latin typeface="Calibri" pitchFamily="34" charset="0"/>
                <a:ea typeface="Calibri" pitchFamily="34" charset="-122"/>
                <a:cs typeface="Calibri" pitchFamily="34" charset="-120"/>
              </a:rPr>
              <a:t>Dropped groups stay built and documented in the panel. Re including any of them later is a one line change. Final feature set: 59 features.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60120"/>
          </a:xfrm>
          <a:prstGeom prst="rect">
            <a:avLst/>
          </a:prstGeom>
          <a:noFill/>
          <a:ln/>
        </p:spPr>
        <p:txBody>
          <a:bodyPr wrap="square" lIns="0" tIns="0" rIns="0" bIns="0" rtlCol="0" anchor="t"/>
          <a:lstStyle/>
          <a:p>
            <a:pPr algn="l" indent="0" marL="0">
              <a:buNone/>
            </a:pPr>
            <a:r>
              <a:rPr lang="en-US" sz="2500" b="1" dirty="0">
                <a:solidFill>
                  <a:srgbClr val="1F2A30"/>
                </a:solidFill>
                <a:latin typeface="Cambria" pitchFamily="34" charset="0"/>
                <a:ea typeface="Cambria" pitchFamily="34" charset="-122"/>
                <a:cs typeface="Cambria" pitchFamily="34" charset="-120"/>
              </a:rPr>
              <a:t>Hyperparameter tuning: two models, chosen by rule, not preference</a:t>
            </a:r>
            <a:endParaRPr lang="en-US" sz="2500" dirty="0"/>
          </a:p>
        </p:txBody>
      </p:sp>
      <p:sp>
        <p:nvSpPr>
          <p:cNvPr id="3" name="Shape 1"/>
          <p:cNvSpPr/>
          <p:nvPr/>
        </p:nvSpPr>
        <p:spPr>
          <a:xfrm>
            <a:off x="548640" y="1463040"/>
            <a:ext cx="5408676" cy="1417320"/>
          </a:xfrm>
          <a:prstGeom prst="rect">
            <a:avLst/>
          </a:prstGeom>
          <a:solidFill>
            <a:srgbClr val="F2F4F5"/>
          </a:solidFill>
          <a:ln/>
        </p:spPr>
      </p:sp>
      <p:sp>
        <p:nvSpPr>
          <p:cNvPr id="4" name="Text 2"/>
          <p:cNvSpPr txBox="1"/>
          <p:nvPr/>
        </p:nvSpPr>
        <p:spPr>
          <a:xfrm>
            <a:off x="749808" y="1664208"/>
            <a:ext cx="5006340" cy="685800"/>
          </a:xfrm>
          <a:prstGeom prst="rect">
            <a:avLst/>
          </a:prstGeom>
          <a:noFill/>
          <a:ln/>
        </p:spPr>
        <p:txBody>
          <a:bodyPr wrap="square" lIns="0" tIns="0" rIns="0" bIns="0" rtlCol="0" anchor="ctr"/>
          <a:lstStyle/>
          <a:p>
            <a:pPr algn="l" indent="0" marL="0">
              <a:buNone/>
            </a:pPr>
            <a:r>
              <a:rPr lang="en-US" sz="3000" b="1" dirty="0">
                <a:solidFill>
                  <a:srgbClr val="5E8C6A"/>
                </a:solidFill>
                <a:latin typeface="Cambria" pitchFamily="34" charset="0"/>
                <a:ea typeface="Cambria" pitchFamily="34" charset="-122"/>
                <a:cs typeface="Cambria" pitchFamily="34" charset="-120"/>
              </a:rPr>
              <a:t>Ridge</a:t>
            </a:r>
            <a:endParaRPr lang="en-US" sz="3000" dirty="0"/>
          </a:p>
        </p:txBody>
      </p:sp>
      <p:sp>
        <p:nvSpPr>
          <p:cNvPr id="5" name="Text 3"/>
          <p:cNvSpPr txBox="1"/>
          <p:nvPr/>
        </p:nvSpPr>
        <p:spPr>
          <a:xfrm>
            <a:off x="749808" y="2377440"/>
            <a:ext cx="5006340" cy="320040"/>
          </a:xfrm>
          <a:prstGeom prst="rect">
            <a:avLst/>
          </a:prstGeom>
          <a:noFill/>
          <a:ln/>
        </p:spPr>
        <p:txBody>
          <a:bodyPr wrap="square" lIns="0" tIns="0" rIns="0" bIns="0" rtlCol="0" anchor="t"/>
          <a:lstStyle/>
          <a:p>
            <a:pPr algn="l" indent="0" marL="0">
              <a:buNone/>
            </a:pPr>
            <a:r>
              <a:rPr lang="en-US" sz="1250" dirty="0">
                <a:solidFill>
                  <a:srgbClr val="5B6770"/>
                </a:solidFill>
                <a:latin typeface="Calibri" pitchFamily="34" charset="0"/>
                <a:ea typeface="Calibri" pitchFamily="34" charset="-122"/>
                <a:cs typeface="Calibri" pitchFamily="34" charset="-120"/>
              </a:rPr>
              <a:t>2 hyperparameters tuned: alpha (9 values) and train_years (rolling window length). Full grid search.</a:t>
            </a:r>
            <a:endParaRPr lang="en-US" sz="1250" dirty="0"/>
          </a:p>
        </p:txBody>
      </p:sp>
      <p:sp>
        <p:nvSpPr>
          <p:cNvPr id="6" name="Shape 4"/>
          <p:cNvSpPr/>
          <p:nvPr/>
        </p:nvSpPr>
        <p:spPr>
          <a:xfrm>
            <a:off x="6231636" y="1463040"/>
            <a:ext cx="5408676" cy="1417320"/>
          </a:xfrm>
          <a:prstGeom prst="rect">
            <a:avLst/>
          </a:prstGeom>
          <a:solidFill>
            <a:srgbClr val="F2F4F5"/>
          </a:solidFill>
          <a:ln/>
        </p:spPr>
      </p:sp>
      <p:sp>
        <p:nvSpPr>
          <p:cNvPr id="7" name="Text 5"/>
          <p:cNvSpPr txBox="1"/>
          <p:nvPr/>
        </p:nvSpPr>
        <p:spPr>
          <a:xfrm>
            <a:off x="6432804" y="1664208"/>
            <a:ext cx="5006340" cy="685800"/>
          </a:xfrm>
          <a:prstGeom prst="rect">
            <a:avLst/>
          </a:prstGeom>
          <a:noFill/>
          <a:ln/>
        </p:spPr>
        <p:txBody>
          <a:bodyPr wrap="square" lIns="0" tIns="0" rIns="0" bIns="0" rtlCol="0" anchor="ctr"/>
          <a:lstStyle/>
          <a:p>
            <a:pPr algn="l" indent="0" marL="0">
              <a:buNone/>
            </a:pPr>
            <a:r>
              <a:rPr lang="en-US" sz="3000" b="1" dirty="0">
                <a:solidFill>
                  <a:srgbClr val="5E8C6A"/>
                </a:solidFill>
                <a:latin typeface="Cambria" pitchFamily="34" charset="0"/>
                <a:ea typeface="Cambria" pitchFamily="34" charset="-122"/>
                <a:cs typeface="Cambria" pitchFamily="34" charset="-120"/>
              </a:rPr>
              <a:t>LightGBM</a:t>
            </a:r>
            <a:endParaRPr lang="en-US" sz="3000" dirty="0"/>
          </a:p>
        </p:txBody>
      </p:sp>
      <p:sp>
        <p:nvSpPr>
          <p:cNvPr id="8" name="Text 6"/>
          <p:cNvSpPr txBox="1"/>
          <p:nvPr/>
        </p:nvSpPr>
        <p:spPr>
          <a:xfrm>
            <a:off x="6432804" y="2377440"/>
            <a:ext cx="5006340" cy="320040"/>
          </a:xfrm>
          <a:prstGeom prst="rect">
            <a:avLst/>
          </a:prstGeom>
          <a:noFill/>
          <a:ln/>
        </p:spPr>
        <p:txBody>
          <a:bodyPr wrap="square" lIns="0" tIns="0" rIns="0" bIns="0" rtlCol="0" anchor="t"/>
          <a:lstStyle/>
          <a:p>
            <a:pPr algn="l" indent="0" marL="0">
              <a:buNone/>
            </a:pPr>
            <a:r>
              <a:rPr lang="en-US" sz="1250" dirty="0">
                <a:solidFill>
                  <a:srgbClr val="5B6770"/>
                </a:solidFill>
                <a:latin typeface="Calibri" pitchFamily="34" charset="0"/>
                <a:ea typeface="Calibri" pitchFamily="34" charset="-122"/>
                <a:cs typeface="Calibri" pitchFamily="34" charset="-120"/>
              </a:rPr>
              <a:t>9 hyperparameters tuned: n_estimators, learning_rate, num_leaves, min_child_samples, colsample and subsample, reg_lambda, objective. 40 iteration random search.</a:t>
            </a:r>
            <a:endParaRPr lang="en-US" sz="1250" dirty="0"/>
          </a:p>
        </p:txBody>
      </p:sp>
      <p:sp>
        <p:nvSpPr>
          <p:cNvPr id="9" name="Text 7"/>
          <p:cNvSpPr txBox="1"/>
          <p:nvPr/>
        </p:nvSpPr>
        <p:spPr>
          <a:xfrm>
            <a:off x="548640" y="3108960"/>
            <a:ext cx="11091672" cy="2377440"/>
          </a:xfrm>
          <a:prstGeom prst="rect">
            <a:avLst/>
          </a:prstGeom>
          <a:noFill/>
          <a:ln/>
        </p:spPr>
        <p:txBody>
          <a:bodyPr wrap="square" lIns="0" tIns="0" rIns="0" bIns="0" rtlCol="0" anchor="t"/>
          <a:lstStyle/>
          <a:p>
            <a:pPr algn="l" marL="342900" indent="-342900">
              <a:spcAft>
                <a:spcPts val="1000"/>
              </a:spcAft>
              <a:buSzPct val="100000"/>
              <a:buChar char="•"/>
            </a:pPr>
            <a:r>
              <a:rPr lang="en-US" sz="1300" dirty="0">
                <a:solidFill>
                  <a:srgbClr val="1F2A30"/>
                </a:solidFill>
                <a:latin typeface="Calibri" pitchFamily="34" charset="0"/>
                <a:ea typeface="Calibri" pitchFamily="34" charset="-122"/>
                <a:cs typeface="Calibri" pitchFamily="34" charset="-120"/>
              </a:rPr>
              <a:t>Selection rule, applied before any search: the two models with the lowest default settings CV MAPE are tuned. That picked Ridge and LightGBM, not Random Forest.</a:t>
            </a:r>
            <a:endParaRPr lang="en-US" sz="1300" dirty="0"/>
          </a:p>
          <a:p>
            <a:pPr algn="l" marL="342900" indent="-342900">
              <a:spcAft>
                <a:spcPts val="1000"/>
              </a:spcAft>
              <a:buSzPct val="100000"/>
              <a:buChar char="•"/>
            </a:pPr>
            <a:r>
              <a:rPr lang="en-US" sz="1300" dirty="0">
                <a:solidFill>
                  <a:srgbClr val="1F2A30"/>
                </a:solidFill>
                <a:latin typeface="Calibri" pitchFamily="34" charset="0"/>
                <a:ea typeface="Calibri" pitchFamily="34" charset="-122"/>
                <a:cs typeface="Calibri" pitchFamily="34" charset="-120"/>
              </a:rPr>
              <a:t>Tuning metric is the same CV macro MAPE used for every other selection decision in the project.</a:t>
            </a:r>
            <a:endParaRPr lang="en-US" sz="1300" dirty="0"/>
          </a:p>
          <a:p>
            <a:pPr algn="l" marL="342900" indent="-342900">
              <a:spcAft>
                <a:spcPts val="1000"/>
              </a:spcAft>
              <a:buSzPct val="100000"/>
              <a:buChar char="•"/>
            </a:pPr>
            <a:r>
              <a:rPr lang="en-US" sz="1300" dirty="0">
                <a:solidFill>
                  <a:srgbClr val="1F2A30"/>
                </a:solidFill>
                <a:latin typeface="Calibri" pitchFamily="34" charset="0"/>
                <a:ea typeface="Calibri" pitchFamily="34" charset="-122"/>
                <a:cs typeface="Calibri" pitchFamily="34" charset="-120"/>
              </a:rPr>
              <a:t>Default versus tuned, reported honestly: tuning moved Ridge from 15.17 to 13.89 percent CV MAPE, and LightGBM from 15.42 to 14.30 percent CV MAPE. A real, non trivial gain for both.</a:t>
            </a:r>
            <a:endParaRPr lang="en-US" sz="1300" dirty="0"/>
          </a:p>
        </p:txBody>
      </p:sp>
      <p:sp>
        <p:nvSpPr>
          <p:cNvPr id="10" name="Text 8"/>
          <p:cNvSpPr txBox="1"/>
          <p:nvPr/>
        </p:nvSpPr>
        <p:spPr>
          <a:xfrm>
            <a:off x="548640" y="6400800"/>
            <a:ext cx="11091672" cy="320040"/>
          </a:xfrm>
          <a:prstGeom prst="rect">
            <a:avLst/>
          </a:prstGeom>
          <a:noFill/>
          <a:ln/>
        </p:spPr>
        <p:txBody>
          <a:bodyPr wrap="square" lIns="0" tIns="0" rIns="0" bIns="0" rtlCol="0" anchor="ctr"/>
          <a:lstStyle/>
          <a:p>
            <a:pPr algn="l" indent="0" marL="0">
              <a:buNone/>
            </a:pPr>
            <a:r>
              <a:rPr lang="en-US" sz="1000" dirty="0">
                <a:solidFill>
                  <a:srgbClr val="5B6770"/>
                </a:solidFill>
                <a:latin typeface="Calibri" pitchFamily="34" charset="0"/>
                <a:ea typeface="Calibri" pitchFamily="34" charset="-122"/>
                <a:cs typeface="Calibri" pitchFamily="34" charset="-120"/>
              </a:rPr>
              <a:t>Preprocessing (imputer, scaler) is fit inside a pipeline, on the training fold only, for every model. No leakage through preprocessing.</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60120"/>
          </a:xfrm>
          <a:prstGeom prst="rect">
            <a:avLst/>
          </a:prstGeom>
          <a:noFill/>
          <a:ln/>
        </p:spPr>
        <p:txBody>
          <a:bodyPr wrap="square" lIns="0" tIns="0" rIns="0" bIns="0" rtlCol="0" anchor="t"/>
          <a:lstStyle/>
          <a:p>
            <a:pPr algn="l" indent="0" marL="0">
              <a:buNone/>
            </a:pPr>
            <a:r>
              <a:rPr lang="en-US" sz="2500" b="1" dirty="0">
                <a:solidFill>
                  <a:srgbClr val="1F2A30"/>
                </a:solidFill>
                <a:latin typeface="Cambria" pitchFamily="34" charset="0"/>
                <a:ea typeface="Cambria" pitchFamily="34" charset="-122"/>
                <a:cs typeface="Cambria" pitchFamily="34" charset="-120"/>
              </a:rPr>
              <a:t>Final result: the selection rule is honoured, even against test evidence</a:t>
            </a:r>
            <a:endParaRPr lang="en-US" sz="2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2743200"/>
        </p:xfrm>
        <a:graphic>
          <a:graphicData uri="http://schemas.openxmlformats.org/drawingml/2006/table">
            <a:tbl>
              <a:tblPr/>
              <a:tblGrid>
                <a:gridCol w="3968496"/>
                <a:gridCol w="2404872"/>
                <a:gridCol w="2404872"/>
                <a:gridCol w="2194560"/>
              </a:tblGrid>
              <a:tr h="39188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Model</a:t>
                      </a:r>
                      <a:endParaRPr lang="en-US" sz="115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CV MAPE</a:t>
                      </a:r>
                      <a:endParaRPr lang="en-US" sz="115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Test MAPE</a:t>
                      </a:r>
                      <a:endParaRPr lang="en-US" sz="115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Skill vs naive</a:t>
                      </a:r>
                      <a:endParaRPr lang="en-US" sz="115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r>
              <a:tr h="391886">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Naive (persistence)</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16.57%</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15.20%</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n/a</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391886">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Tuned Ridge, selected by rule</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13.89%</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14.11%</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7.2%</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391886">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Default Ridge</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14.04%</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13.68%</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391886">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Default LightGBM</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14.75%</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13.43%</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11.6%</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391886">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Random Forest (not tuned)</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14.93%</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13.55%</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10.9%</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391886">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Tuned LightGBM, close second in CV</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14.30%</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13.00%</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14.5%</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bl>
          </a:graphicData>
        </a:graphic>
      </p:graphicFrame>
      <p:sp>
        <p:nvSpPr>
          <p:cNvPr id="4" name="Text 1"/>
          <p:cNvSpPr txBox="1"/>
          <p:nvPr/>
        </p:nvSpPr>
        <p:spPr>
          <a:xfrm>
            <a:off x="548640" y="4343400"/>
            <a:ext cx="11091672" cy="2103120"/>
          </a:xfrm>
          <a:prstGeom prst="rect">
            <a:avLst/>
          </a:prstGeom>
          <a:noFill/>
          <a:ln/>
        </p:spPr>
        <p:txBody>
          <a:bodyPr wrap="square" lIns="0" tIns="0" rIns="0" bIns="0" rtlCol="0" anchor="t"/>
          <a:lstStyle/>
          <a:p>
            <a:pPr algn="l" marL="342900" indent="-342900">
              <a:spcAft>
                <a:spcPts val="1000"/>
              </a:spcAft>
              <a:buSzPct val="100000"/>
              <a:buChar char="•"/>
            </a:pPr>
            <a:r>
              <a:rPr lang="en-US" sz="1250" dirty="0">
                <a:solidFill>
                  <a:srgbClr val="1F2A30"/>
                </a:solidFill>
                <a:latin typeface="Calibri" pitchFamily="34" charset="0"/>
                <a:ea typeface="Calibri" pitchFamily="34" charset="-122"/>
                <a:cs typeface="Calibri" pitchFamily="34" charset="-120"/>
              </a:rPr>
              <a:t>Tuned Ridge is the honoured pick. CV and test MAPE are close (13.89 to 14.11 percent), evidence the validation design is not optimistic for this model.</a:t>
            </a:r>
            <a:endParaRPr lang="en-US" sz="1250" dirty="0"/>
          </a:p>
          <a:p>
            <a:pPr algn="l" marL="342900" indent="-342900">
              <a:spcAft>
                <a:spcPts val="1000"/>
              </a:spcAft>
              <a:buSzPct val="100000"/>
              <a:buChar char="•"/>
            </a:pPr>
            <a:r>
              <a:rPr lang="en-US" sz="1250" dirty="0">
                <a:solidFill>
                  <a:srgbClr val="1F2A30"/>
                </a:solidFill>
                <a:latin typeface="Calibri" pitchFamily="34" charset="0"/>
                <a:ea typeface="Calibri" pitchFamily="34" charset="-122"/>
                <a:cs typeface="Calibri" pitchFamily="34" charset="-120"/>
              </a:rPr>
              <a:t>Tuned LightGBM scores 1.1 points better on test, larger than the 0.3 to 0.6 point gaps elsewhere, which overlap as noise. We do not switch. Choosing by test performance would turn the test year into a second validation set.</a:t>
            </a:r>
            <a:endParaRPr lang="en-US" sz="1250" dirty="0"/>
          </a:p>
          <a:p>
            <a:pPr algn="l" marL="342900" indent="-342900">
              <a:spcAft>
                <a:spcPts val="1000"/>
              </a:spcAft>
              <a:buSzPct val="100000"/>
              <a:buChar char="•"/>
            </a:pPr>
            <a:r>
              <a:rPr lang="en-US" sz="1250" dirty="0">
                <a:solidFill>
                  <a:srgbClr val="1F2A30"/>
                </a:solidFill>
                <a:latin typeface="Calibri" pitchFamily="34" charset="0"/>
                <a:ea typeface="Calibri" pitchFamily="34" charset="-122"/>
                <a:cs typeface="Calibri" pitchFamily="34" charset="-120"/>
              </a:rPr>
              <a:t>Flagged as a real open decision. The principled next step is a Ridge plus LightGBM average, evaluated in CV first, not chosen by peeking at test.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60120"/>
          </a:xfrm>
          <a:prstGeom prst="rect">
            <a:avLst/>
          </a:prstGeom>
          <a:noFill/>
          <a:ln/>
        </p:spPr>
        <p:txBody>
          <a:bodyPr wrap="square" lIns="0" tIns="0" rIns="0" bIns="0" rtlCol="0" anchor="t"/>
          <a:lstStyle/>
          <a:p>
            <a:pPr algn="l" indent="0" marL="0">
              <a:buNone/>
            </a:pPr>
            <a:r>
              <a:rPr lang="en-US" sz="2500" b="1" dirty="0">
                <a:solidFill>
                  <a:srgbClr val="1F2A30"/>
                </a:solidFill>
                <a:latin typeface="Cambria" pitchFamily="34" charset="0"/>
                <a:ea typeface="Cambria" pitchFamily="34" charset="-122"/>
                <a:cs typeface="Cambria" pitchFamily="34" charset="-120"/>
              </a:rPr>
              <a:t>Where the model earns its keep, and where it does not</a:t>
            </a:r>
            <a:endParaRPr lang="en-US" sz="2500" dirty="0"/>
          </a:p>
        </p:txBody>
      </p:sp>
      <p:pic>
        <p:nvPicPr>
          <p:cNvPr id="3" name="Image 0" descr="/home/virtuozs/college/Predictive-Analysis/UAS/pihps-cabai-rawit-forecast/presentation/draft_pitch/charts/forecast_jawa_timur.png">    </p:cNvPr>
          <p:cNvPicPr>
            <a:picLocks noChangeAspect="1"/>
          </p:cNvPicPr>
          <p:nvPr/>
        </p:nvPicPr>
        <p:blipFill>
          <a:blip r:embed="rId1"/>
          <a:stretch>
            <a:fillRect/>
          </a:stretch>
        </p:blipFill>
        <p:spPr>
          <a:xfrm>
            <a:off x="548640" y="1371600"/>
            <a:ext cx="5120640" cy="1894637"/>
          </a:xfrm>
          <a:prstGeom prst="rect">
            <a:avLst/>
          </a:prstGeom>
        </p:spPr>
      </p:pic>
      <p:sp>
        <p:nvSpPr>
          <p:cNvPr id="4" name="Text 1"/>
          <p:cNvSpPr txBox="1"/>
          <p:nvPr/>
        </p:nvSpPr>
        <p:spPr>
          <a:xfrm>
            <a:off x="548640" y="3302813"/>
            <a:ext cx="5120640" cy="274320"/>
          </a:xfrm>
          <a:prstGeom prst="rect">
            <a:avLst/>
          </a:prstGeom>
          <a:noFill/>
          <a:ln/>
        </p:spPr>
        <p:txBody>
          <a:bodyPr wrap="square" lIns="0" tIns="0" rIns="0" bIns="0" rtlCol="0" anchor="ctr"/>
          <a:lstStyle/>
          <a:p>
            <a:pPr algn="ctr" indent="0" marL="0">
              <a:buNone/>
            </a:pPr>
            <a:r>
              <a:rPr lang="en-US" sz="1050" i="1" dirty="0">
                <a:solidFill>
                  <a:srgbClr val="5B6770"/>
                </a:solidFill>
                <a:latin typeface="Calibri" pitchFamily="34" charset="0"/>
                <a:ea typeface="Calibri" pitchFamily="34" charset="-122"/>
                <a:cs typeface="Calibri" pitchFamily="34" charset="-120"/>
              </a:rPr>
              <a:t>Jawa Timur: actual, naive, and model forecast</a:t>
            </a:r>
            <a:endParaRPr lang="en-US" sz="1050" dirty="0"/>
          </a:p>
        </p:txBody>
      </p:sp>
      <p:pic>
        <p:nvPicPr>
          <p:cNvPr id="5" name="Image 1" descr="/home/virtuozs/college/Predictive-Analysis/UAS/pihps-cabai-rawit-forecast/presentation/draft_pitch/charts/forecast_dki_jakarta.png">    </p:cNvPr>
          <p:cNvPicPr>
            <a:picLocks noChangeAspect="1"/>
          </p:cNvPicPr>
          <p:nvPr/>
        </p:nvPicPr>
        <p:blipFill>
          <a:blip r:embed="rId2"/>
          <a:stretch>
            <a:fillRect/>
          </a:stretch>
        </p:blipFill>
        <p:spPr>
          <a:xfrm>
            <a:off x="5971032" y="1371600"/>
            <a:ext cx="5120640" cy="1993727"/>
          </a:xfrm>
          <a:prstGeom prst="rect">
            <a:avLst/>
          </a:prstGeom>
        </p:spPr>
      </p:pic>
      <p:sp>
        <p:nvSpPr>
          <p:cNvPr id="6" name="Text 2"/>
          <p:cNvSpPr txBox="1"/>
          <p:nvPr/>
        </p:nvSpPr>
        <p:spPr>
          <a:xfrm>
            <a:off x="5971032" y="3401903"/>
            <a:ext cx="5120640" cy="274320"/>
          </a:xfrm>
          <a:prstGeom prst="rect">
            <a:avLst/>
          </a:prstGeom>
          <a:noFill/>
          <a:ln/>
        </p:spPr>
        <p:txBody>
          <a:bodyPr wrap="square" lIns="0" tIns="0" rIns="0" bIns="0" rtlCol="0" anchor="ctr"/>
          <a:lstStyle/>
          <a:p>
            <a:pPr algn="ctr" indent="0" marL="0">
              <a:buNone/>
            </a:pPr>
            <a:r>
              <a:rPr lang="en-US" sz="1050" i="1" dirty="0">
                <a:solidFill>
                  <a:srgbClr val="5B6770"/>
                </a:solidFill>
                <a:latin typeface="Calibri" pitchFamily="34" charset="0"/>
                <a:ea typeface="Calibri" pitchFamily="34" charset="-122"/>
                <a:cs typeface="Calibri" pitchFamily="34" charset="-120"/>
              </a:rPr>
              <a:t>DKI Jakarta: actual, naive, and model forecast</a:t>
            </a:r>
            <a:endParaRPr lang="en-US" sz="10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4846320"/>
          <a:ext cx="11091672" cy="1554480"/>
        </p:xfrm>
        <a:graphic>
          <a:graphicData uri="http://schemas.openxmlformats.org/drawingml/2006/table">
            <a:tbl>
              <a:tblPr/>
              <a:tblGrid>
                <a:gridCol w="3840480"/>
                <a:gridCol w="2651760"/>
                <a:gridCol w="2651760"/>
                <a:gridCol w="1920240"/>
              </a:tblGrid>
              <a:tr h="3886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Situation (test year)</a:t>
                      </a:r>
                      <a:endParaRPr lang="en-US" sz="105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 MAPE</a:t>
                      </a:r>
                      <a:endParaRPr lang="en-US" sz="105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Naive MAPE</a:t>
                      </a:r>
                      <a:endParaRPr lang="en-US" sz="105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Reading</a:t>
                      </a:r>
                      <a:endParaRPr lang="en-US" sz="105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r>
              <a:tr h="388620">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Big falls, more than 18% in 7 days</a:t>
                      </a:r>
                      <a:endParaRPr lang="en-US" sz="10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18.3%</a:t>
                      </a:r>
                      <a:endParaRPr lang="en-US" sz="10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34.6%</a:t>
                      </a:r>
                      <a:endParaRPr lang="en-US" sz="10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Model clearly better</a:t>
                      </a:r>
                      <a:endParaRPr lang="en-US" sz="10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388620">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Big rises, more than 22% in 7 days</a:t>
                      </a:r>
                      <a:endParaRPr lang="en-US" sz="10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20.9%</a:t>
                      </a:r>
                      <a:endParaRPr lang="en-US" sz="10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30.4%</a:t>
                      </a:r>
                      <a:endParaRPr lang="en-US" sz="10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Model clearly better</a:t>
                      </a:r>
                      <a:endParaRPr lang="en-US" sz="10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388620">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Quiet weeks, within 5%</a:t>
                      </a:r>
                      <a:endParaRPr lang="en-US" sz="10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10.7%</a:t>
                      </a:r>
                      <a:endParaRPr lang="en-US" sz="10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0"/>
                          </a:solidFill>
                          <a:latin typeface="Calibri" pitchFamily="34" charset="0"/>
                          <a:ea typeface="Calibri" pitchFamily="34" charset="-122"/>
                          <a:cs typeface="Calibri" pitchFamily="34" charset="-120"/>
                        </a:rPr>
                        <a:t>Naive better. Model predicts moves that do not happen</a:t>
                      </a:r>
                      <a:endParaRPr lang="en-US" sz="10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548640" y="6400800"/>
            <a:ext cx="11091672" cy="320040"/>
          </a:xfrm>
          <a:prstGeom prst="rect">
            <a:avLst/>
          </a:prstGeom>
          <a:noFill/>
          <a:ln/>
        </p:spPr>
        <p:txBody>
          <a:bodyPr wrap="square" lIns="0" tIns="0" rIns="0" bIns="0" rtlCol="0" anchor="ctr"/>
          <a:lstStyle/>
          <a:p>
            <a:pPr algn="l" indent="0" marL="0">
              <a:buNone/>
            </a:pPr>
            <a:r>
              <a:rPr lang="en-US" sz="1000" dirty="0">
                <a:solidFill>
                  <a:srgbClr val="5B6770"/>
                </a:solidFill>
                <a:latin typeface="Calibri" pitchFamily="34" charset="0"/>
                <a:ea typeface="Calibri" pitchFamily="34" charset="-122"/>
                <a:cs typeface="Calibri" pitchFamily="34" charset="-120"/>
              </a:rPr>
              <a:t>76 percent precision, 43 percent recall at predicted rise over 15 percent, versus 37 percent for a momentum rule. Known risk: Aug to Oct 2026 drift, needs live monitoring.</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60120"/>
          </a:xfrm>
          <a:prstGeom prst="rect">
            <a:avLst/>
          </a:prstGeom>
          <a:noFill/>
          <a:ln/>
        </p:spPr>
        <p:txBody>
          <a:bodyPr wrap="square" lIns="0" tIns="0" rIns="0" bIns="0" rtlCol="0" anchor="t"/>
          <a:lstStyle/>
          <a:p>
            <a:pPr algn="l" indent="0" marL="0">
              <a:buNone/>
            </a:pPr>
            <a:r>
              <a:rPr lang="en-US" sz="2500" b="1" dirty="0">
                <a:solidFill>
                  <a:srgbClr val="1F2A30"/>
                </a:solidFill>
                <a:latin typeface="Cambria" pitchFamily="34" charset="0"/>
                <a:ea typeface="Cambria" pitchFamily="34" charset="-122"/>
                <a:cs typeface="Cambria" pitchFamily="34" charset="-120"/>
              </a:rPr>
              <a:t>Interpretation: predictive signal, never presented as causal</a:t>
            </a:r>
            <a:endParaRPr lang="en-US" sz="2500" dirty="0"/>
          </a:p>
        </p:txBody>
      </p:sp>
      <p:pic>
        <p:nvPicPr>
          <p:cNvPr id="3" name="Image 0" descr="/home/virtuozs/college/Predictive-Analysis/UAS/pihps-cabai-rawit-forecast/presentation/draft_pitch/charts/feature_importance.png">    </p:cNvPr>
          <p:cNvPicPr>
            <a:picLocks noChangeAspect="1"/>
          </p:cNvPicPr>
          <p:nvPr/>
        </p:nvPicPr>
        <p:blipFill>
          <a:blip r:embed="rId1"/>
          <a:stretch>
            <a:fillRect/>
          </a:stretch>
        </p:blipFill>
        <p:spPr>
          <a:xfrm>
            <a:off x="548640" y="1417320"/>
            <a:ext cx="5760720" cy="3751729"/>
          </a:xfrm>
          <a:prstGeom prst="rect">
            <a:avLst/>
          </a:prstGeom>
        </p:spPr>
      </p:pic>
      <p:sp>
        <p:nvSpPr>
          <p:cNvPr id="4" name="Text 1"/>
          <p:cNvSpPr txBox="1"/>
          <p:nvPr/>
        </p:nvSpPr>
        <p:spPr>
          <a:xfrm>
            <a:off x="548640" y="5205625"/>
            <a:ext cx="5760720" cy="274320"/>
          </a:xfrm>
          <a:prstGeom prst="rect">
            <a:avLst/>
          </a:prstGeom>
          <a:noFill/>
          <a:ln/>
        </p:spPr>
        <p:txBody>
          <a:bodyPr wrap="square" lIns="0" tIns="0" rIns="0" bIns="0" rtlCol="0" anchor="ctr"/>
          <a:lstStyle/>
          <a:p>
            <a:pPr algn="ctr" indent="0" marL="0">
              <a:buNone/>
            </a:pPr>
            <a:r>
              <a:rPr lang="en-US" sz="1050" i="1" dirty="0">
                <a:solidFill>
                  <a:srgbClr val="5B6770"/>
                </a:solidFill>
                <a:latin typeface="Calibri" pitchFamily="34" charset="0"/>
                <a:ea typeface="Calibri" pitchFamily="34" charset="-122"/>
                <a:cs typeface="Calibri" pitchFamily="34" charset="-120"/>
              </a:rPr>
              <a:t>Ridge standardised coefficients, final model, top 20 features by group</a:t>
            </a:r>
            <a:endParaRPr lang="en-US" sz="1050" dirty="0"/>
          </a:p>
        </p:txBody>
      </p:sp>
      <p:sp>
        <p:nvSpPr>
          <p:cNvPr id="5" name="Text 2"/>
          <p:cNvSpPr txBox="1"/>
          <p:nvPr/>
        </p:nvSpPr>
        <p:spPr>
          <a:xfrm>
            <a:off x="6583680" y="1417320"/>
            <a:ext cx="5056632" cy="4480560"/>
          </a:xfrm>
          <a:prstGeom prst="rect">
            <a:avLst/>
          </a:prstGeom>
          <a:noFill/>
          <a:ln/>
        </p:spPr>
        <p:txBody>
          <a:bodyPr wrap="square" lIns="0" tIns="0" rIns="0" bIns="0" rtlCol="0" anchor="t"/>
          <a:lstStyle/>
          <a:p>
            <a:pPr algn="l" marL="342900" indent="-342900">
              <a:spcAft>
                <a:spcPts val="1000"/>
              </a:spcAft>
              <a:buSzPct val="100000"/>
              <a:buChar char="•"/>
            </a:pPr>
            <a:r>
              <a:rPr lang="en-US" sz="1200" dirty="0">
                <a:solidFill>
                  <a:srgbClr val="1F2A30"/>
                </a:solidFill>
                <a:latin typeface="Calibri" pitchFamily="34" charset="0"/>
                <a:ea typeface="Calibri" pitchFamily="34" charset="-122"/>
                <a:cs typeface="Calibri" pitchFamily="34" charset="-120"/>
              </a:rPr>
              <a:t>Method depends on the final model: standardised coefficients for Ridge, impurity importance for Random Forest, TreeSHAP via LightGBM's native pred_contrib for LightGBM.</a:t>
            </a:r>
            <a:endParaRPr lang="en-US" sz="1200" dirty="0"/>
          </a:p>
          <a:p>
            <a:pPr algn="l" marL="342900" indent="-342900">
              <a:spcAft>
                <a:spcPts val="1000"/>
              </a:spcAft>
              <a:buSzPct val="100000"/>
              <a:buChar char="•"/>
            </a:pPr>
            <a:r>
              <a:rPr lang="en-US" sz="1200" dirty="0">
                <a:solidFill>
                  <a:srgbClr val="1F2A30"/>
                </a:solidFill>
                <a:latin typeface="Calibri" pitchFamily="34" charset="0"/>
                <a:ea typeface="Calibri" pitchFamily="34" charset="-122"/>
                <a:cs typeface="Calibri" pitchFamily="34" charset="-120"/>
              </a:rPr>
              <a:t>A model agnostic cross check: grouped permutation importance on the test year, shuffling a whole feature group together.</a:t>
            </a:r>
            <a:endParaRPr lang="en-US" sz="1200" dirty="0"/>
          </a:p>
          <a:p>
            <a:pPr algn="l" marL="342900" indent="-342900">
              <a:spcAft>
                <a:spcPts val="1000"/>
              </a:spcAft>
              <a:buSzPct val="100000"/>
              <a:buChar char="•"/>
            </a:pPr>
            <a:r>
              <a:rPr lang="en-US" sz="1200" dirty="0">
                <a:solidFill>
                  <a:srgbClr val="1F2A30"/>
                </a:solidFill>
                <a:latin typeface="Calibri" pitchFamily="34" charset="0"/>
                <a:ea typeface="Calibri" pitchFamily="34" charset="-122"/>
                <a:cs typeface="Calibri" pitchFamily="34" charset="-120"/>
              </a:rPr>
              <a:t>Framing stated explicitly throughout: importance means the model relies on this to predict, not this causes price changes. No feature here has been through causal identification.</a:t>
            </a:r>
            <a:endParaRPr lang="en-US" sz="1200" dirty="0"/>
          </a:p>
          <a:p>
            <a:pPr algn="l" marL="342900" indent="-342900">
              <a:spcAft>
                <a:spcPts val="1000"/>
              </a:spcAft>
              <a:buSzPct val="100000"/>
              <a:buChar char="•"/>
            </a:pPr>
            <a:r>
              <a:rPr lang="en-US" sz="1200" dirty="0">
                <a:solidFill>
                  <a:srgbClr val="1F2A30"/>
                </a:solidFill>
                <a:latin typeface="Calibri" pitchFamily="34" charset="0"/>
                <a:ea typeface="Calibri" pitchFamily="34" charset="-122"/>
                <a:cs typeface="Calibri" pitchFamily="34" charset="-120"/>
              </a:rPr>
              <a:t>Cross province and lagged rain features are the top permutation groups for the final model, consistent with the ablation.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60120"/>
          </a:xfrm>
          <a:prstGeom prst="rect">
            <a:avLst/>
          </a:prstGeom>
          <a:noFill/>
          <a:ln/>
        </p:spPr>
        <p:txBody>
          <a:bodyPr wrap="square" lIns="0" tIns="0" rIns="0" bIns="0" rtlCol="0" anchor="t"/>
          <a:lstStyle/>
          <a:p>
            <a:pPr algn="l" indent="0" marL="0">
              <a:buNone/>
            </a:pPr>
            <a:r>
              <a:rPr lang="en-US" sz="2500" b="1" dirty="0">
                <a:solidFill>
                  <a:srgbClr val="1F2A30"/>
                </a:solidFill>
                <a:latin typeface="Cambria" pitchFamily="34" charset="0"/>
                <a:ea typeface="Cambria" pitchFamily="34" charset="-122"/>
                <a:cs typeface="Cambria" pitchFamily="34" charset="-120"/>
              </a:rPr>
              <a:t>Limitations, stated plainly</a:t>
            </a:r>
            <a:endParaRPr lang="en-US" sz="2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4206240"/>
        </p:xfrm>
        <a:graphic>
          <a:graphicData uri="http://schemas.openxmlformats.org/drawingml/2006/table">
            <a:tbl>
              <a:tblPr/>
              <a:tblGrid>
                <a:gridCol w="548640"/>
                <a:gridCol w="10424160"/>
              </a:tblGrid>
              <a:tr h="600891">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Limitation</a:t>
                      </a:r>
                      <a:endParaRPr lang="en-US" sz="120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r>
              <a:tr h="600891">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Predictive, not causal. The named mechanisms (weather to supply, holidays to demand, arbitrage) are plausible stories, not tested effects.</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600891">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DKI Jakarta was added on non statistical grounds (demand anchor market) despite the lowest CV. A deliberate, documented deviation from the screening rule.</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600891">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Point forecasts shrink large moves toward zero. Expected behaviour of a model minimising average error, not a bug, but prediction intervals are not implemented yet.</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600891">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Small effective evaluation sample. One test year, about 250 autocorrelated origins times 6 provinces, only 2 Ramadan cycles in CV.</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600891">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The CV selected model is not the test year winner. Tuned Ridge (14.11%) versus tuned LightGBM (13.00%), a gap larger than typical noise, not yet resolved.</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600891">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Weather is measured at the provincial capital, not the growing region. Probably weakens the true weather signal.</a:t>
                      </a:r>
                      <a:endParaRPr lang="en-US" sz="120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960120"/>
          </a:xfrm>
          <a:prstGeom prst="rect">
            <a:avLst/>
          </a:prstGeom>
          <a:noFill/>
          <a:ln/>
        </p:spPr>
        <p:txBody>
          <a:bodyPr wrap="square" lIns="0" tIns="0" rIns="0" bIns="0" rtlCol="0" anchor="t"/>
          <a:lstStyle/>
          <a:p>
            <a:pPr algn="l" indent="0" marL="0">
              <a:buNone/>
            </a:pPr>
            <a:r>
              <a:rPr lang="en-US" sz="2500" b="1" dirty="0">
                <a:solidFill>
                  <a:srgbClr val="1F2A30"/>
                </a:solidFill>
                <a:latin typeface="Cambria" pitchFamily="34" charset="0"/>
                <a:ea typeface="Cambria" pitchFamily="34" charset="-122"/>
                <a:cs typeface="Cambria" pitchFamily="34" charset="-120"/>
              </a:rPr>
              <a:t>Recommendation and next steps</a:t>
            </a:r>
            <a:endParaRPr lang="en-US" sz="2500" dirty="0"/>
          </a:p>
        </p:txBody>
      </p:sp>
      <p:sp>
        <p:nvSpPr>
          <p:cNvPr id="3" name="Shape 1"/>
          <p:cNvSpPr/>
          <p:nvPr/>
        </p:nvSpPr>
        <p:spPr>
          <a:xfrm>
            <a:off x="548640" y="1463040"/>
            <a:ext cx="11091672" cy="1051560"/>
          </a:xfrm>
          <a:prstGeom prst="rect">
            <a:avLst/>
          </a:prstGeom>
          <a:solidFill>
            <a:srgbClr val="F2F4F5"/>
          </a:solidFill>
          <a:ln/>
        </p:spPr>
      </p:sp>
      <p:sp>
        <p:nvSpPr>
          <p:cNvPr id="4" name="Text 2"/>
          <p:cNvSpPr txBox="1"/>
          <p:nvPr/>
        </p:nvSpPr>
        <p:spPr>
          <a:xfrm>
            <a:off x="822960" y="1627632"/>
            <a:ext cx="10543032" cy="777240"/>
          </a:xfrm>
          <a:prstGeom prst="rect">
            <a:avLst/>
          </a:prstGeom>
          <a:noFill/>
          <a:ln/>
        </p:spPr>
        <p:txBody>
          <a:bodyPr wrap="square" lIns="0" tIns="0" rIns="0" bIns="0" rtlCol="0" anchor="ctr"/>
          <a:lstStyle/>
          <a:p>
            <a:pPr algn="l" indent="0" marL="0">
              <a:buNone/>
            </a:pPr>
            <a:r>
              <a:rPr lang="en-US" sz="1500" b="1" dirty="0">
                <a:solidFill>
                  <a:srgbClr val="1F2A30"/>
                </a:solidFill>
                <a:latin typeface="Calibri" pitchFamily="34" charset="0"/>
                <a:ea typeface="Calibri" pitchFamily="34" charset="-122"/>
                <a:cs typeface="Calibri" pitchFamily="34" charset="-120"/>
              </a:rPr>
              <a:t>Run a three month shadow pilot of the early warning score, with a fallback to persistence if it stops beating naive. Not an operational rollout.</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11091672" cy="2926080"/>
        </p:xfrm>
        <a:graphic>
          <a:graphicData uri="http://schemas.openxmlformats.org/drawingml/2006/table">
            <a:tbl>
              <a:tblPr/>
              <a:tblGrid>
                <a:gridCol w="4023360"/>
                <a:gridCol w="6949440"/>
              </a:tblGrid>
              <a:tr h="4876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marL="76200" marR="76200" marT="50800" marB="50800" anchor="ctr">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1F2A30"/>
                    </a:solidFill>
                  </a:tcPr>
                </a:tc>
              </a:tr>
              <a:tr h="487680">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1. Evaluate a Ridge plus LightGBM average in CV</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Cheap, and often more robust than either model alone. The principled resolution to the open model choice question</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487680">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2. Add interval (quantile) forecasts</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Alerts come with uncertainty. Directly addresses the shrinkage limitation</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487680">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3. Agree the alert threshold with the stakeholder</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Business decision. Trades false alarms against missed spikes</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r h="487680">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4. Re pull weather for major producing kabupaten</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Current weather is measured at provincial capitals, not growing areas</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2F4F5"/>
                    </a:solidFill>
                  </a:tcPr>
                </a:tc>
              </a:tr>
              <a:tr h="487680">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5. Verify holiday dates against official SKB calendars</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0"/>
                          </a:solidFill>
                          <a:latin typeface="Calibri" pitchFamily="34" charset="0"/>
                          <a:ea typeface="Calibri" pitchFamily="34" charset="-122"/>
                          <a:cs typeface="Calibri" pitchFamily="34" charset="-120"/>
                        </a:rPr>
                        <a:t>Hijri dates were computed, not government verified. Imlek dates are already independently cross checked</a:t>
                      </a:r>
                      <a:endParaRPr lang="en-US" sz="1150" dirty="0">
                        <a:latin typeface="Calibri" charset="0"/>
                        <a:ea typeface="Calibri" charset="0"/>
                        <a:cs typeface="Calibri" charset="0"/>
                      </a:endParaRPr>
                    </a:p>
                  </a:txBody>
                  <a:tcPr marL="76200" marR="76200" marT="50800" marB="50800" anchor="t">
                    <a:lnL w="6350" cap="flat" cmpd="sng" algn="ctr">
                      <a:solidFill>
                        <a:srgbClr val="E2E5E7"/>
                      </a:solidFill>
                      <a:prstDash val="solid"/>
                      <a:round/>
                      <a:headEnd type="none" w="med" len="med"/>
                      <a:tailEnd type="none" w="med" len="med"/>
                    </a:lnL>
                    <a:lnR w="6350" cap="flat" cmpd="sng" algn="ctr">
                      <a:solidFill>
                        <a:srgbClr val="E2E5E7"/>
                      </a:solidFill>
                      <a:prstDash val="solid"/>
                      <a:round/>
                      <a:headEnd type="none" w="med" len="med"/>
                      <a:tailEnd type="none" w="med" len="med"/>
                    </a:lnR>
                    <a:lnT w="6350" cap="flat" cmpd="sng" algn="ctr">
                      <a:solidFill>
                        <a:srgbClr val="E2E5E7"/>
                      </a:solidFill>
                      <a:prstDash val="solid"/>
                      <a:round/>
                      <a:headEnd type="none" w="med" len="med"/>
                      <a:tailEnd type="none" w="med" len="med"/>
                    </a:lnT>
                    <a:lnB w="6350" cap="flat" cmpd="sng" algn="ctr">
                      <a:solidFill>
                        <a:srgbClr val="E2E5E7"/>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Chili Forecast Technical v2">
  <a:themeElements>
    <a:clrScheme name="Chili Forecast Technical v2">
      <a:dk1>
        <a:srgbClr val="1F2A30"/>
      </a:dk1>
      <a:lt1>
        <a:srgbClr val="FFFFFF"/>
      </a:lt1>
      <a:dk2>
        <a:srgbClr val="5B6770"/>
      </a:dk2>
      <a:lt2>
        <a:srgbClr val="F2F4F5"/>
      </a:lt2>
      <a:accent1>
        <a:srgbClr val="B83227"/>
      </a:accent1>
      <a:accent2>
        <a:srgbClr val="5E8C6A"/>
      </a:accent2>
      <a:accent3>
        <a:srgbClr val="9AA5AD"/>
      </a:accent3>
      <a:accent4>
        <a:srgbClr val="8A5A44"/>
      </a:accent4>
      <a:accent5>
        <a:srgbClr val="D98E04"/>
      </a:accent5>
      <a:accent6>
        <a:srgbClr val="3E4C55"/>
      </a:accent6>
      <a:hlink>
        <a:srgbClr val="B83227"/>
      </a:hlink>
      <a:folHlink>
        <a:srgbClr val="5B6770"/>
      </a:folHlink>
    </a:clrScheme>
    <a:fontScheme name="Chili Forecast Technical v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2026-10-18T09:48:52Z</dcterms:created>
  <dcterms:modified xsi:type="dcterms:W3CDTF">2026-10-18T09:48:52Z</dcterms:modified>
</cp:coreProperties>
</file>